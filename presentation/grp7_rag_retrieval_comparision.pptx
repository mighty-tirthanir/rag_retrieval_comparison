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42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45 seconds): Introduce the group and project. Explain that this is a small Retrieval-Augmented Generation, or RAG, question-answering system built around the BIT Mesra student rules PDF. The title asks the main research question: does finding more relevant passages automatically mean the model will answer correctly? This project compares TF-IDF retrieval with semantic embedding retrieval while keeping the answer generator the same. Replace the group-number and team-member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55 seconds): Preview the flow. First, the practical problem is that students need precise rules, often buried inside a long policy PDF. Second, we build a small RAG pipeline. Third, we compare two retrievers but hold the LLM fixed. Fourth, we measure retrieval and answer quality separately. Finally, we inspect examples where the system succeeds or fails. The goal is not to claim that one technique is always best; it is to understand where errors enter the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Use a familiar example: a student wants to know how late they may leave the hostel, whom to contact for a complaint, or what the library timings are. Relevant information appears in multiple sections and pages, and related rules can be worded differently. Manually searching is possible but inefficient. A general-purpose LLM may confidently invent details if it answers from memory. So the real problem is not just producing fluent text; it is finding the correct evidence and faithfully answering from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State the exact research question: does improving document retrieval automatically guarantee correct answers? The hypothesis is intentionally cautious. Semantic retrieval may match paraphrases and related meanings better, while keyword retrieval may do well when the benchmark shares exact policy terms. Neither one guarantees the model will extract the right fact. To make the comparison fair, we use the same Qwen2.5:3b model, the same prompt, and the same top-k value for both retrieval methods. We then measure retrieval quality separately from answer accuracy and hallucinations.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10 seconds): The source is the BIT Students’ Rules and Regulations PDF. It is 24 PDF pages long, but extraction produced 20 non-empty page units used for retrieval. The benchmark contains 22 designed questions. Twenty-one are answerable or evaluable from the document, including a question that asks for a fine amount and expects the system to say the exact amount is not specified. One asks for the current Wi-Fi password, which the PDF does not contain, to test abstention. Page references are manually listed, so the benchmark is useful for teaching but small and not fully generalizable.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15 seconds): Walk through the flow from left to right. We load page-labelled text from the PDF. A retriever scores all pages against the question and returns the top three. Those page excerpts are placed into a prompt alongside the original question. The same local Qwen model then generates a concise answer. We save the retrieved page numbers, scores, model answer and method name in a CSV. Finally, retrieval is evaluated from page references, while answer correctness and hallucination are reviewed by a human. This separation lets us tell whether a failure came before or during generation.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15 seconds): Explain preprocessing.py. The regular expression searches for markers such as “PDF PAGE 5”. The code takes the text between one marker and the next, normalizes extra whitespace, and stores a record with two fields: page number and text. Empty pages are skipped. This makes it possible to show which PDF page was retrieved. The benchmark CSV also gets checked for required columns and converts its answerable field to a Boolean. A limitation is that PDF extraction can damage tables or reading order, so the original page must be checked for important claims.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20 seconds): TF-IDF stands for Term Frequency–Inverse Document Frequency. In simple terms, it rewards terms that are frequent in one page but not common in all pages. The vectorizer is fit once on all page texts. At question time, the question is transformed using the same vocabulary; cosine similarity compares its vector with page vectors. The pages are sorted by score and the top three are returned. This approach is fast and explainable, but can miss paraphrases. If the PDF says “valid Identity Card” and a question says “student ID”, lexical overlap may be limited.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20 seconds): SemanticRetriever uses all-MiniLM-L6-v2 from Sentence Transformers. The model encodes each page into a vector. It also encodes each question. Because embeddings are normalized, taking the dot product gives cosine similarity. The top three pages by score are returned. This can help with synonyms and paraphrases because it compares represented meaning instead of only matching shared terms. But embedding similarity is still a proxy: two pages can be semantically related without answering the exact question. A compact embedding model can also miss a relevant 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25 seconds): The project calls a local Ollama endpoint and uses qwen2.5:3b. The prompt tells the model to use only the supplied context, avoid outside knowledge, and say the document does not specify the answer when context is insufficient. Temperature is zero to reduce randomness. The same model and prompt are used for TF-IDF and semantic retrieval. However, the prompt is not a guarantee: a model can ignore relevant text, misunderstand two separate rules, or add an unsupported detail. The retrieved text is truncated to a maximum excerpt length per page to keep the context manageable.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10 seconds): The supplied benchmark has 22 questions and each is run once with TF-IDF and once with semantic retrieval, producing 44 rows. The top-k parameter is set to 3. Answer generation uses a local Ollama model to avoid changing the generator between methods. For each row, the system saves the question, expected pages, retrieved pages, similarity scores, retrieval success, LLM answer, and blank review columns. A human fills the correctness and hallucination labels and then the evaluate-only option recalculates the summary 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30 seconds): Explain metrics in plain language. Recall@1 asks how many relevant reference pages appear first; Recall@3 checks the top three. MRR rewards putting the first relevant page near the top. Answer accuracy and hallucination rate come from human review, not exact string matching. Retrieval failure means none of the expected pages appears among the top three. Generation failure is measured only on reviewed questions where retrieval succeeded: did the model still answer incorrectly? One detail: Recall@3 can be below 100% while retrieval-failure rate is zero because some questions have more than one expected relevant page. A partial match earns partial recall, but still counts as a retrieval success if any relevant page is found.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40 seconds): Report the comparison table faithfully. TF-IDF has Recall@1 71.43%, Recall@3 95.24% and MRR@3 92.06%; semantic retrieval has 45.24%, 76.19% and 69.05%. Reported answer accuracy is equal at 81.82%. Semantic retrieval has a lower reported hallucination rate, 18.18% versus 22.73%, and fewer generation failures among retrieved questions, 5.56% versus 19.05%. TF-IDF has zero retrieval failures versus 14.29% for semantic. Do not claim these metrics prove one method is universally superior. This is one PDF and a small designed benchmark. The table reflects the uploaded comparison_table.csv; if labels change, regenerate and replace these values.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1 minute 50 seconds): Use three cases. Q08: TF-IDF returned the expected pages but answered “The document does not specify this information”; semantic retrieval provided the cooking prohibition. This points to a generation failure for TF-IDF. Q13: semantic retrieval did not return the expected page 16 among its top three and then named the Dean of Student Affairs instead of the academic contacts. That is a retrieval failure followed by an incorrect answer. Q18: both methods retrieved page 13, but both said the black-dot consequences were not specified, even though that page lists the consequences. This is a clear generation failure. Finally, Q14 demonstrates why an answer can respond correctly but still add an unsupported claim about issue/return hours.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(about 1 minute 15 seconds): Summarize without overclaiming. In this dataset, the uploaded comparison table showed stronger page retrieval for TF-IDF, identical reported answer accuracy, and a somewhat lower hallucination rate for semantic retrieval. The central lesson is that retrieval metrics and generation metrics tell different stories. The project is small, uses one PDF and manually judged labels, and the LLM may still ignore evidence. Future work would add more question types, hybrid lexical-plus-semantic retrieval, reranking, answer citations tied to page passages, and more systematic human evaluation. End by inviting questions. Before final submission, verify that the metrics displayed match the final reviewed CSV and the regenerated comparison 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566928" y="6492240"/>
            <a:ext cx="11064240" cy="0"/>
          </a:xfrm>
          <a:prstGeom prst="line">
            <a:avLst/>
          </a:prstGeom>
          <a:noFill/>
          <a:ln w="8890">
            <a:solidFill>
              <a:srgbClr val="E1E6ED"/>
            </a:solidFill>
            <a:prstDash val="solid"/>
          </a:ln>
        </p:spPr>
      </p:sp>
      <p:sp>
        <p:nvSpPr>
          <p:cNvPr id="3" name="Text 1"/>
          <p:cNvSpPr/>
          <p:nvPr/>
        </p:nvSpPr>
        <p:spPr>
          <a:xfrm>
            <a:off x="603504" y="6519672"/>
            <a:ext cx="3657600" cy="164592"/>
          </a:xfrm>
          <a:prstGeom prst="rect">
            <a:avLst/>
          </a:prstGeom>
          <a:noFill/>
          <a:ln/>
        </p:spPr>
        <p:txBody>
          <a:bodyPr wrap="square" lIns="0" tIns="0" rIns="0" bIns="0" rtlCol="0" anchor="ctr"/>
          <a:lstStyle/>
          <a:p>
            <a:pPr marL="0" indent="0">
              <a:buNone/>
            </a:pPr>
            <a:r>
              <a:rPr lang="en-US" sz="800" dirty="0">
                <a:solidFill>
                  <a:srgbClr val="7A8495"/>
                </a:solidFill>
                <a:latin typeface="Aptos" pitchFamily="34" charset="0"/>
                <a:ea typeface="Aptos" pitchFamily="34" charset="-122"/>
                <a:cs typeface="Aptos" pitchFamily="34" charset="-120"/>
              </a:rPr>
              <a:t>RAG × BIT REGULATIONS</a:t>
            </a:r>
            <a:endParaRPr lang="en-US" sz="800" dirty="0"/>
          </a:p>
        </p:txBody>
      </p:sp>
      <p:sp>
        <p:nvSpPr>
          <p:cNvPr id="4" name="Text 2"/>
          <p:cNvSpPr/>
          <p:nvPr/>
        </p:nvSpPr>
        <p:spPr>
          <a:xfrm>
            <a:off x="7955280" y="6519672"/>
            <a:ext cx="3017520" cy="164592"/>
          </a:xfrm>
          <a:prstGeom prst="rect">
            <a:avLst/>
          </a:prstGeom>
          <a:noFill/>
          <a:ln/>
        </p:spPr>
        <p:txBody>
          <a:bodyPr wrap="square" lIns="0" tIns="0" rIns="0" bIns="0" rtlCol="0" anchor="ctr"/>
          <a:lstStyle/>
          <a:p>
            <a:pPr marL="0" indent="0" algn="r">
              <a:buNone/>
            </a:pPr>
            <a:r>
              <a:rPr lang="en-US" sz="800" dirty="0">
                <a:solidFill>
                  <a:srgbClr val="7A8495"/>
                </a:solidFill>
                <a:latin typeface="Aptos" pitchFamily="34" charset="0"/>
                <a:ea typeface="Aptos" pitchFamily="34" charset="-122"/>
                <a:cs typeface="Aptos" pitchFamily="34" charset="-120"/>
              </a:rPr>
              <a:t>M.Tech AI/ML • Assignment 7</a:t>
            </a:r>
            <a:endParaRPr lang="en-US" sz="800" dirty="0"/>
          </a:p>
        </p:txBody>
      </p:sp>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2E"/>
        </a:solidFill>
        <a:effectLst/>
      </p:bgPr>
    </p:bg>
    <p:spTree>
      <p:nvGrpSpPr>
        <p:cNvPr id="1" name=""/>
        <p:cNvGrpSpPr/>
        <p:nvPr/>
      </p:nvGrpSpPr>
      <p:grpSpPr>
        <a:xfrm>
          <a:off x="0" y="0"/>
          <a:ext cx="0" cy="0"/>
          <a:chOff x="0" y="0"/>
          <a:chExt cx="0" cy="0"/>
        </a:xfrm>
      </p:grpSpPr>
      <p:sp>
        <p:nvSpPr>
          <p:cNvPr id="2" name="Shape 0"/>
          <p:cNvSpPr/>
          <p:nvPr/>
        </p:nvSpPr>
        <p:spPr>
          <a:xfrm>
            <a:off x="8183880" y="0"/>
            <a:ext cx="4005072" cy="6858000"/>
          </a:xfrm>
          <a:prstGeom prst="rect">
            <a:avLst/>
          </a:prstGeom>
          <a:solidFill>
            <a:srgbClr val="1A2941"/>
          </a:solidFill>
          <a:ln w="12700">
            <a:solidFill>
              <a:srgbClr val="1A2941">
                <a:alpha val="0"/>
              </a:srgbClr>
            </a:solidFill>
            <a:prstDash val="solid"/>
          </a:ln>
        </p:spPr>
      </p:sp>
      <p:sp>
        <p:nvSpPr>
          <p:cNvPr id="3" name="Shape 1"/>
          <p:cNvSpPr/>
          <p:nvPr/>
        </p:nvSpPr>
        <p:spPr>
          <a:xfrm>
            <a:off x="9189720" y="859536"/>
            <a:ext cx="1737360" cy="1737360"/>
          </a:xfrm>
          <a:prstGeom prst="ellipse">
            <a:avLst/>
          </a:prstGeom>
          <a:solidFill>
            <a:srgbClr val="0FA99F"/>
          </a:solidFill>
          <a:ln w="12700">
            <a:solidFill>
              <a:srgbClr val="0FA99F">
                <a:alpha val="0"/>
              </a:srgbClr>
            </a:solidFill>
            <a:prstDash val="solid"/>
          </a:ln>
        </p:spPr>
      </p:sp>
      <p:sp>
        <p:nvSpPr>
          <p:cNvPr id="4" name="Shape 2"/>
          <p:cNvSpPr/>
          <p:nvPr/>
        </p:nvSpPr>
        <p:spPr>
          <a:xfrm>
            <a:off x="9646920" y="1316736"/>
            <a:ext cx="822960" cy="822960"/>
          </a:xfrm>
          <a:prstGeom prst="ellipse">
            <a:avLst/>
          </a:prstGeom>
          <a:solidFill>
            <a:srgbClr val="1A2941"/>
          </a:solidFill>
          <a:ln w="12700">
            <a:solidFill>
              <a:srgbClr val="1A2941">
                <a:alpha val="0"/>
              </a:srgbClr>
            </a:solidFill>
            <a:prstDash val="solid"/>
          </a:ln>
        </p:spPr>
      </p:sp>
      <p:sp>
        <p:nvSpPr>
          <p:cNvPr id="5" name="Shape 3"/>
          <p:cNvSpPr/>
          <p:nvPr/>
        </p:nvSpPr>
        <p:spPr>
          <a:xfrm>
            <a:off x="10287000" y="1965960"/>
            <a:ext cx="438912" cy="438912"/>
          </a:xfrm>
          <a:prstGeom prst="ellipse">
            <a:avLst/>
          </a:prstGeom>
          <a:solidFill>
            <a:srgbClr val="F16B61"/>
          </a:solidFill>
          <a:ln w="12700">
            <a:solidFill>
              <a:srgbClr val="F16B61">
                <a:alpha val="0"/>
              </a:srgbClr>
            </a:solidFill>
            <a:prstDash val="solid"/>
          </a:ln>
        </p:spPr>
      </p:sp>
      <p:sp>
        <p:nvSpPr>
          <p:cNvPr id="6" name="Shape 4"/>
          <p:cNvSpPr/>
          <p:nvPr/>
        </p:nvSpPr>
        <p:spPr>
          <a:xfrm>
            <a:off x="8412480" y="2514600"/>
            <a:ext cx="292608" cy="292608"/>
          </a:xfrm>
          <a:prstGeom prst="ellipse">
            <a:avLst/>
          </a:prstGeom>
          <a:solidFill>
            <a:srgbClr val="E9AE3C"/>
          </a:solidFill>
          <a:ln w="12700">
            <a:solidFill>
              <a:srgbClr val="E9AE3C">
                <a:alpha val="0"/>
              </a:srgbClr>
            </a:solidFill>
            <a:prstDash val="solid"/>
          </a:ln>
        </p:spPr>
      </p:sp>
      <p:sp>
        <p:nvSpPr>
          <p:cNvPr id="7" name="Shape 5"/>
          <p:cNvSpPr/>
          <p:nvPr/>
        </p:nvSpPr>
        <p:spPr>
          <a:xfrm>
            <a:off x="8613648" y="3108960"/>
            <a:ext cx="2670048" cy="0"/>
          </a:xfrm>
          <a:prstGeom prst="line">
            <a:avLst/>
          </a:prstGeom>
          <a:noFill/>
          <a:ln w="15240">
            <a:solidFill>
              <a:srgbClr val="4F6686"/>
            </a:solidFill>
            <a:prstDash val="solid"/>
          </a:ln>
        </p:spPr>
      </p:sp>
      <p:sp>
        <p:nvSpPr>
          <p:cNvPr id="8" name="Text 6"/>
          <p:cNvSpPr txBox="1"/>
          <p:nvPr/>
        </p:nvSpPr>
        <p:spPr>
          <a:xfrm>
            <a:off x="713232" y="658368"/>
            <a:ext cx="6126480" cy="256032"/>
          </a:xfrm>
          <a:prstGeom prst="rect">
            <a:avLst/>
          </a:prstGeom>
          <a:noFill/>
          <a:ln/>
        </p:spPr>
        <p:txBody>
          <a:bodyPr wrap="square" lIns="0" tIns="0" rIns="0" bIns="0" rtlCol="0" anchor="ctr">
            <a:normAutofit/>
          </a:bodyPr>
          <a:lstStyle/>
          <a:p>
            <a:pPr marL="0" indent="0" algn="l">
              <a:buNone/>
            </a:pPr>
            <a:r>
              <a:rPr lang="en-US" sz="1100" b="1" kern="0" spc="160" dirty="0">
                <a:solidFill>
                  <a:srgbClr val="71E1D8"/>
                </a:solidFill>
                <a:latin typeface="Aptos" pitchFamily="34" charset="0"/>
                <a:ea typeface="Aptos" pitchFamily="34" charset="-122"/>
                <a:cs typeface="Aptos" pitchFamily="34" charset="-120"/>
              </a:rPr>
              <a:t>M.TECH AI/ML  •  MAI MINI PROJECT</a:t>
            </a:r>
            <a:endParaRPr lang="en-US" sz="1100" dirty="0"/>
          </a:p>
        </p:txBody>
      </p:sp>
      <p:sp>
        <p:nvSpPr>
          <p:cNvPr id="9" name="Text 7"/>
          <p:cNvSpPr txBox="1"/>
          <p:nvPr/>
        </p:nvSpPr>
        <p:spPr>
          <a:xfrm>
            <a:off x="694944" y="1298448"/>
            <a:ext cx="7178040" cy="1444752"/>
          </a:xfrm>
          <a:prstGeom prst="rect">
            <a:avLst/>
          </a:prstGeom>
          <a:noFill/>
          <a:ln/>
        </p:spPr>
        <p:txBody>
          <a:bodyPr wrap="square" lIns="0" tIns="0" rIns="0" bIns="0" rtlCol="0" anchor="t">
            <a:normAutofit/>
          </a:bodyPr>
          <a:lstStyle/>
          <a:p>
            <a:pPr marL="0" indent="0" algn="l">
              <a:buNone/>
            </a:pPr>
            <a:r>
              <a:rPr lang="en-US" sz="3400" b="1" dirty="0">
                <a:solidFill>
                  <a:srgbClr val="FFFFFF"/>
                </a:solidFill>
                <a:latin typeface="Aptos Display" pitchFamily="34" charset="0"/>
                <a:ea typeface="Aptos Display" pitchFamily="34" charset="-122"/>
                <a:cs typeface="Aptos Display" pitchFamily="34" charset="-120"/>
              </a:rPr>
              <a:t>RAG Retrieval Comparison</a:t>
            </a:r>
            <a:endParaRPr lang="en-US" sz="3400" dirty="0"/>
          </a:p>
        </p:txBody>
      </p:sp>
      <p:sp>
        <p:nvSpPr>
          <p:cNvPr id="10" name="Text 8"/>
          <p:cNvSpPr txBox="1"/>
          <p:nvPr/>
        </p:nvSpPr>
        <p:spPr>
          <a:xfrm>
            <a:off x="731520" y="3017520"/>
            <a:ext cx="6537960" cy="704088"/>
          </a:xfrm>
          <a:prstGeom prst="rect">
            <a:avLst/>
          </a:prstGeom>
          <a:noFill/>
          <a:ln/>
        </p:spPr>
        <p:txBody>
          <a:bodyPr wrap="square" lIns="0" tIns="0" rIns="0" bIns="0" rtlCol="0" anchor="t">
            <a:normAutofit/>
          </a:bodyPr>
          <a:lstStyle/>
          <a:p>
            <a:pPr marL="0" indent="0" algn="l">
              <a:buNone/>
            </a:pPr>
            <a:r>
              <a:rPr lang="en-US" sz="1700" dirty="0">
                <a:solidFill>
                  <a:srgbClr val="D5DDEA"/>
                </a:solidFill>
                <a:latin typeface="Aptos" pitchFamily="34" charset="0"/>
                <a:ea typeface="Aptos" pitchFamily="34" charset="-122"/>
                <a:cs typeface="Aptos" pitchFamily="34" charset="-120"/>
              </a:rPr>
              <a:t>A small RAG-based question-answering system using BIT Mesra rules and regulations</a:t>
            </a:r>
            <a:endParaRPr lang="en-US" sz="1700" dirty="0"/>
          </a:p>
        </p:txBody>
      </p:sp>
      <p:sp>
        <p:nvSpPr>
          <p:cNvPr id="11" name="Shape 9"/>
          <p:cNvSpPr/>
          <p:nvPr/>
        </p:nvSpPr>
        <p:spPr>
          <a:xfrm>
            <a:off x="749808" y="3986784"/>
            <a:ext cx="2487168" cy="283464"/>
          </a:xfrm>
          <a:prstGeom prst="roundRect">
            <a:avLst>
              <a:gd name="adj" fmla="val 38710"/>
            </a:avLst>
          </a:prstGeom>
          <a:solidFill>
            <a:srgbClr val="244057"/>
          </a:solidFill>
          <a:ln w="12700">
            <a:solidFill>
              <a:srgbClr val="244057">
                <a:alpha val="0"/>
              </a:srgbClr>
            </a:solidFill>
            <a:prstDash val="solid"/>
          </a:ln>
        </p:spPr>
      </p:sp>
      <p:sp>
        <p:nvSpPr>
          <p:cNvPr id="12" name="Text 10"/>
          <p:cNvSpPr txBox="1"/>
          <p:nvPr/>
        </p:nvSpPr>
        <p:spPr>
          <a:xfrm>
            <a:off x="822960" y="4005072"/>
            <a:ext cx="2340864" cy="237744"/>
          </a:xfrm>
          <a:prstGeom prst="rect">
            <a:avLst/>
          </a:prstGeom>
          <a:noFill/>
          <a:ln/>
        </p:spPr>
        <p:txBody>
          <a:bodyPr wrap="square" lIns="0" tIns="0" rIns="0" bIns="0" rtlCol="0" anchor="ctr">
            <a:normAutofit/>
          </a:bodyPr>
          <a:lstStyle/>
          <a:p>
            <a:pPr marL="0" indent="0" algn="ctr">
              <a:buNone/>
            </a:pPr>
            <a:r>
              <a:rPr lang="en-US" sz="1000" b="1" dirty="0">
                <a:solidFill>
                  <a:srgbClr val="DFFFFB"/>
                </a:solidFill>
                <a:latin typeface="Aptos" pitchFamily="34" charset="0"/>
                <a:ea typeface="Aptos" pitchFamily="34" charset="-122"/>
                <a:cs typeface="Aptos" pitchFamily="34" charset="-120"/>
              </a:rPr>
              <a:t>TF-IDF vs SEMANTIC RETRIEVAL</a:t>
            </a:r>
            <a:endParaRPr lang="en-US" sz="1000" dirty="0"/>
          </a:p>
        </p:txBody>
      </p:sp>
      <p:sp>
        <p:nvSpPr>
          <p:cNvPr id="13" name="Text 11"/>
          <p:cNvSpPr txBox="1"/>
          <p:nvPr/>
        </p:nvSpPr>
        <p:spPr>
          <a:xfrm>
            <a:off x="749808" y="4645152"/>
            <a:ext cx="5029200" cy="256032"/>
          </a:xfrm>
          <a:prstGeom prst="rect">
            <a:avLst/>
          </a:prstGeom>
          <a:noFill/>
          <a:ln/>
        </p:spPr>
        <p:txBody>
          <a:bodyPr wrap="square" lIns="0" tIns="0" rIns="0" bIns="0" rtlCol="0" anchor="ctr">
            <a:normAutofit/>
          </a:bodyPr>
          <a:lstStyle/>
          <a:p>
            <a:pPr marL="0" indent="0" algn="l">
              <a:buNone/>
            </a:pPr>
            <a:r>
              <a:rPr lang="en-US" sz="1200" dirty="0">
                <a:solidFill>
                  <a:srgbClr val="B9C5D6"/>
                </a:solidFill>
                <a:latin typeface="Aptos" pitchFamily="34" charset="0"/>
                <a:ea typeface="Aptos" pitchFamily="34" charset="-122"/>
                <a:cs typeface="Aptos" pitchFamily="34" charset="-120"/>
              </a:rPr>
              <a:t>Assignment 7  • MAI MINI PROJECT</a:t>
            </a:r>
            <a:endParaRPr lang="en-US" sz="1200" dirty="0"/>
          </a:p>
        </p:txBody>
      </p:sp>
      <p:sp>
        <p:nvSpPr>
          <p:cNvPr id="14" name="Text 12"/>
          <p:cNvSpPr txBox="1"/>
          <p:nvPr/>
        </p:nvSpPr>
        <p:spPr>
          <a:xfrm>
            <a:off x="749808" y="5138928"/>
            <a:ext cx="4389120" cy="256032"/>
          </a:xfrm>
          <a:prstGeom prst="rect">
            <a:avLst/>
          </a:prstGeom>
          <a:noFill/>
          <a:ln/>
        </p:spPr>
        <p:txBody>
          <a:bodyPr wrap="square" lIns="0" tIns="0" rIns="0" bIns="0" rtlCol="0" anchor="ctr">
            <a:normAutofit/>
          </a:bodyPr>
          <a:lstStyle/>
          <a:p>
            <a:pPr marL="0" indent="0" algn="l">
              <a:buNone/>
            </a:pPr>
            <a:r>
              <a:rPr lang="en-US" sz="1200" dirty="0">
                <a:solidFill>
                  <a:srgbClr val="FFFFFF"/>
                </a:solidFill>
                <a:latin typeface="Aptos" pitchFamily="34" charset="0"/>
                <a:ea typeface="Aptos" pitchFamily="34" charset="-122"/>
                <a:cs typeface="Aptos" pitchFamily="34" charset="-120"/>
              </a:rPr>
              <a:t>Group number: 7</a:t>
            </a:r>
            <a:endParaRPr lang="en-US" sz="1200" dirty="0"/>
          </a:p>
        </p:txBody>
      </p:sp>
      <p:sp>
        <p:nvSpPr>
          <p:cNvPr id="15" name="Text 13"/>
          <p:cNvSpPr txBox="1"/>
          <p:nvPr/>
        </p:nvSpPr>
        <p:spPr>
          <a:xfrm>
            <a:off x="749808" y="5504688"/>
            <a:ext cx="6217920" cy="504226"/>
          </a:xfrm>
          <a:prstGeom prst="rect">
            <a:avLst/>
          </a:prstGeom>
          <a:noFill/>
          <a:ln/>
        </p:spPr>
        <p:txBody>
          <a:bodyPr wrap="square" lIns="0" tIns="0" rIns="0" bIns="0" rtlCol="0" anchor="ctr">
            <a:normAutofit lnSpcReduction="10000"/>
          </a:bodyPr>
          <a:lstStyle/>
          <a:p>
            <a:pPr marL="0" indent="0" algn="l">
              <a:buNone/>
            </a:pPr>
            <a:r>
              <a:rPr lang="en-US" sz="1200" dirty="0">
                <a:solidFill>
                  <a:srgbClr val="FFFFFF"/>
                </a:solidFill>
                <a:latin typeface="Aptos" pitchFamily="34" charset="0"/>
                <a:ea typeface="Aptos" pitchFamily="34" charset="-122"/>
                <a:cs typeface="Aptos" pitchFamily="34" charset="-120"/>
              </a:rPr>
              <a:t>Team members: </a:t>
            </a:r>
            <a:br>
              <a:rPr lang="en-US" sz="1200" dirty="0">
                <a:solidFill>
                  <a:srgbClr val="FFFFFF"/>
                </a:solidFill>
                <a:latin typeface="Aptos" pitchFamily="34" charset="0"/>
                <a:ea typeface="Aptos" pitchFamily="34" charset="-122"/>
                <a:cs typeface="Aptos" pitchFamily="34" charset="-120"/>
              </a:rPr>
            </a:br>
            <a:r>
              <a:rPr lang="en-US" sz="1200" dirty="0">
                <a:solidFill>
                  <a:srgbClr val="FFFFFF"/>
                </a:solidFill>
                <a:latin typeface="Aptos" pitchFamily="34" charset="0"/>
                <a:ea typeface="Aptos" pitchFamily="34" charset="-122"/>
                <a:cs typeface="Aptos" pitchFamily="34" charset="-120"/>
              </a:rPr>
              <a:t>	      Tirthanir Maity 	MT/AI/10003/26</a:t>
            </a:r>
          </a:p>
          <a:p>
            <a:pPr marL="0" indent="0" algn="l">
              <a:buNone/>
            </a:pPr>
            <a:r>
              <a:rPr lang="en-US" sz="1200" dirty="0">
                <a:solidFill>
                  <a:srgbClr val="FFFFFF"/>
                </a:solidFill>
                <a:latin typeface="Aptos" pitchFamily="34" charset="0"/>
              </a:rPr>
              <a:t>	      Garv Tank		MT/AI/10029/26</a:t>
            </a:r>
            <a:endParaRPr lang="en-US" sz="1200" dirty="0"/>
          </a:p>
        </p:txBody>
      </p:sp>
      <p:sp>
        <p:nvSpPr>
          <p:cNvPr id="16" name="Text 14"/>
          <p:cNvSpPr txBox="1"/>
          <p:nvPr/>
        </p:nvSpPr>
        <p:spPr>
          <a:xfrm>
            <a:off x="8467344" y="3749040"/>
            <a:ext cx="3154680" cy="868680"/>
          </a:xfrm>
          <a:prstGeom prst="rect">
            <a:avLst/>
          </a:prstGeom>
          <a:noFill/>
          <a:ln/>
        </p:spPr>
        <p:txBody>
          <a:bodyPr wrap="square" lIns="0" tIns="0" rIns="0" bIns="0" rtlCol="0" anchor="t">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A controlled comparison: two retrievers, one answer generator</a:t>
            </a:r>
            <a:endParaRPr lang="en-US" sz="1700" dirty="0"/>
          </a:p>
        </p:txBody>
      </p:sp>
      <p:sp>
        <p:nvSpPr>
          <p:cNvPr id="17" name="Text 15"/>
          <p:cNvSpPr txBox="1"/>
          <p:nvPr/>
        </p:nvSpPr>
        <p:spPr>
          <a:xfrm>
            <a:off x="8485632" y="4864608"/>
            <a:ext cx="3063240" cy="512064"/>
          </a:xfrm>
          <a:prstGeom prst="rect">
            <a:avLst/>
          </a:prstGeom>
          <a:noFill/>
          <a:ln/>
        </p:spPr>
        <p:txBody>
          <a:bodyPr wrap="square" lIns="0" tIns="0" rIns="0" bIns="0" rtlCol="0" anchor="t">
            <a:normAutofit/>
          </a:bodyPr>
          <a:lstStyle/>
          <a:p>
            <a:pPr marL="0" indent="0" algn="l">
              <a:buNone/>
            </a:pPr>
            <a:r>
              <a:rPr lang="en-US" sz="1100" dirty="0">
                <a:solidFill>
                  <a:srgbClr val="C0CAD8"/>
                </a:solidFill>
                <a:latin typeface="Aptos" pitchFamily="34" charset="0"/>
                <a:ea typeface="Aptos" pitchFamily="34" charset="-122"/>
                <a:cs typeface="Aptos" pitchFamily="34" charset="-120"/>
              </a:rPr>
              <a:t>Source document: BIT Students’ Rules and Regulations</a:t>
            </a:r>
            <a:endParaRPr lang="en-US" sz="1100" dirty="0"/>
          </a:p>
        </p:txBody>
      </p:sp>
      <p:sp>
        <p:nvSpPr>
          <p:cNvPr id="18" name="Text 16"/>
          <p:cNvSpPr txBox="1"/>
          <p:nvPr/>
        </p:nvSpPr>
        <p:spPr>
          <a:xfrm>
            <a:off x="10927080" y="6492240"/>
            <a:ext cx="658368" cy="164592"/>
          </a:xfrm>
          <a:prstGeom prst="rect">
            <a:avLst/>
          </a:prstGeom>
          <a:noFill/>
          <a:ln/>
        </p:spPr>
        <p:txBody>
          <a:bodyPr wrap="square" lIns="0" tIns="0" rIns="0" bIns="0" rtlCol="0" anchor="ctr">
            <a:normAutofit/>
          </a:bodyPr>
          <a:lstStyle/>
          <a:p>
            <a:pPr marL="0" indent="0" algn="r">
              <a:buNone/>
            </a:pPr>
            <a:r>
              <a:rPr lang="en-US" sz="800" dirty="0">
                <a:solidFill>
                  <a:srgbClr val="97A6BA"/>
                </a:solidFill>
                <a:latin typeface="Aptos" pitchFamily="34" charset="0"/>
                <a:ea typeface="Aptos" pitchFamily="34" charset="-122"/>
                <a:cs typeface="Aptos" pitchFamily="34" charset="-120"/>
              </a:rPr>
              <a:t>01 / 15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01 • STORY</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A simple story in five steps</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We follow the same path as the experiment: from a document to a measured answer.</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104851"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658368" y="1956816"/>
            <a:ext cx="2103120" cy="2432304"/>
          </a:xfrm>
          <a:prstGeom prst="roundRect">
            <a:avLst>
              <a:gd name="adj" fmla="val 5217"/>
            </a:avLst>
          </a:prstGeom>
          <a:solidFill>
            <a:srgbClr val="FFFFFF"/>
          </a:solidFill>
          <a:ln w="12700">
            <a:solidFill>
              <a:srgbClr val="E1E6ED"/>
            </a:solidFill>
            <a:prstDash val="solid"/>
          </a:ln>
        </p:spPr>
      </p:sp>
      <p:sp>
        <p:nvSpPr>
          <p:cNvPr id="9" name="Shape 6"/>
          <p:cNvSpPr/>
          <p:nvPr/>
        </p:nvSpPr>
        <p:spPr>
          <a:xfrm>
            <a:off x="841248" y="2176272"/>
            <a:ext cx="438912" cy="438912"/>
          </a:xfrm>
          <a:prstGeom prst="ellipse">
            <a:avLst/>
          </a:prstGeom>
          <a:solidFill>
            <a:srgbClr val="0FA99F"/>
          </a:solidFill>
          <a:ln w="12700">
            <a:solidFill>
              <a:srgbClr val="0FA99F">
                <a:alpha val="0"/>
              </a:srgbClr>
            </a:solidFill>
            <a:prstDash val="solid"/>
          </a:ln>
        </p:spPr>
      </p:sp>
      <p:sp>
        <p:nvSpPr>
          <p:cNvPr id="10" name="Text 7"/>
          <p:cNvSpPr txBox="1"/>
          <p:nvPr/>
        </p:nvSpPr>
        <p:spPr>
          <a:xfrm>
            <a:off x="841248" y="2176272"/>
            <a:ext cx="438912" cy="438912"/>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01</a:t>
            </a:r>
            <a:endParaRPr lang="en-US" sz="1200" dirty="0"/>
          </a:p>
        </p:txBody>
      </p:sp>
      <p:sp>
        <p:nvSpPr>
          <p:cNvPr id="11" name="Text 8"/>
          <p:cNvSpPr txBox="1"/>
          <p:nvPr/>
        </p:nvSpPr>
        <p:spPr>
          <a:xfrm>
            <a:off x="841248" y="2834640"/>
            <a:ext cx="1737360" cy="347472"/>
          </a:xfrm>
          <a:prstGeom prst="rect">
            <a:avLst/>
          </a:prstGeom>
          <a:noFill/>
          <a:ln/>
        </p:spPr>
        <p:txBody>
          <a:bodyPr wrap="square" lIns="0" tIns="0" rIns="0" bIns="0" rtlCol="0" anchor="ctr">
            <a:normAutofit/>
          </a:bodyPr>
          <a:lstStyle/>
          <a:p>
            <a:pPr marL="0" indent="0" algn="l">
              <a:buNone/>
            </a:pPr>
            <a:r>
              <a:rPr lang="en-US" sz="1900" b="1" dirty="0">
                <a:solidFill>
                  <a:srgbClr val="111B2E"/>
                </a:solidFill>
                <a:latin typeface="Aptos" pitchFamily="34" charset="0"/>
                <a:ea typeface="Aptos" pitchFamily="34" charset="-122"/>
                <a:cs typeface="Aptos" pitchFamily="34" charset="-120"/>
              </a:rPr>
              <a:t>Problem</a:t>
            </a:r>
            <a:endParaRPr lang="en-US" sz="1900" dirty="0"/>
          </a:p>
        </p:txBody>
      </p:sp>
      <p:sp>
        <p:nvSpPr>
          <p:cNvPr id="12" name="Text 9"/>
          <p:cNvSpPr txBox="1"/>
          <p:nvPr/>
        </p:nvSpPr>
        <p:spPr>
          <a:xfrm>
            <a:off x="841248" y="3291840"/>
            <a:ext cx="1719072" cy="7772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Finding the right rule is slow and error-prone.</a:t>
            </a:r>
            <a:endParaRPr lang="en-US" sz="1250" dirty="0"/>
          </a:p>
        </p:txBody>
      </p:sp>
      <p:sp>
        <p:nvSpPr>
          <p:cNvPr id="13" name="Shape 10"/>
          <p:cNvSpPr/>
          <p:nvPr/>
        </p:nvSpPr>
        <p:spPr>
          <a:xfrm>
            <a:off x="2962656" y="1956816"/>
            <a:ext cx="2103120" cy="2432304"/>
          </a:xfrm>
          <a:prstGeom prst="roundRect">
            <a:avLst>
              <a:gd name="adj" fmla="val 5217"/>
            </a:avLst>
          </a:prstGeom>
          <a:solidFill>
            <a:srgbClr val="FFFFFF"/>
          </a:solidFill>
          <a:ln w="12700">
            <a:solidFill>
              <a:srgbClr val="E1E6ED"/>
            </a:solidFill>
            <a:prstDash val="solid"/>
          </a:ln>
        </p:spPr>
      </p:sp>
      <p:sp>
        <p:nvSpPr>
          <p:cNvPr id="14" name="Shape 11"/>
          <p:cNvSpPr/>
          <p:nvPr/>
        </p:nvSpPr>
        <p:spPr>
          <a:xfrm>
            <a:off x="3145536" y="2176272"/>
            <a:ext cx="438912" cy="438912"/>
          </a:xfrm>
          <a:prstGeom prst="ellipse">
            <a:avLst/>
          </a:prstGeom>
          <a:solidFill>
            <a:srgbClr val="4E6BFF"/>
          </a:solidFill>
          <a:ln w="12700">
            <a:solidFill>
              <a:srgbClr val="4E6BFF">
                <a:alpha val="0"/>
              </a:srgbClr>
            </a:solidFill>
            <a:prstDash val="solid"/>
          </a:ln>
        </p:spPr>
      </p:sp>
      <p:sp>
        <p:nvSpPr>
          <p:cNvPr id="15" name="Text 12"/>
          <p:cNvSpPr txBox="1"/>
          <p:nvPr/>
        </p:nvSpPr>
        <p:spPr>
          <a:xfrm>
            <a:off x="3145536" y="2176272"/>
            <a:ext cx="438912" cy="438912"/>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02</a:t>
            </a:r>
            <a:endParaRPr lang="en-US" sz="1200" dirty="0"/>
          </a:p>
        </p:txBody>
      </p:sp>
      <p:sp>
        <p:nvSpPr>
          <p:cNvPr id="16" name="Text 13"/>
          <p:cNvSpPr txBox="1"/>
          <p:nvPr/>
        </p:nvSpPr>
        <p:spPr>
          <a:xfrm>
            <a:off x="3145536" y="2834640"/>
            <a:ext cx="1737360" cy="347472"/>
          </a:xfrm>
          <a:prstGeom prst="rect">
            <a:avLst/>
          </a:prstGeom>
          <a:noFill/>
          <a:ln/>
        </p:spPr>
        <p:txBody>
          <a:bodyPr wrap="square" lIns="0" tIns="0" rIns="0" bIns="0" rtlCol="0" anchor="ctr">
            <a:normAutofit/>
          </a:bodyPr>
          <a:lstStyle/>
          <a:p>
            <a:pPr marL="0" indent="0" algn="l">
              <a:buNone/>
            </a:pPr>
            <a:r>
              <a:rPr lang="en-US" sz="1900" b="1" dirty="0">
                <a:solidFill>
                  <a:srgbClr val="111B2E"/>
                </a:solidFill>
                <a:latin typeface="Aptos" pitchFamily="34" charset="0"/>
                <a:ea typeface="Aptos" pitchFamily="34" charset="-122"/>
                <a:cs typeface="Aptos" pitchFamily="34" charset="-120"/>
              </a:rPr>
              <a:t>Build</a:t>
            </a:r>
            <a:endParaRPr lang="en-US" sz="1900" dirty="0"/>
          </a:p>
        </p:txBody>
      </p:sp>
      <p:sp>
        <p:nvSpPr>
          <p:cNvPr id="17" name="Text 14"/>
          <p:cNvSpPr txBox="1"/>
          <p:nvPr/>
        </p:nvSpPr>
        <p:spPr>
          <a:xfrm>
            <a:off x="3145536" y="3291840"/>
            <a:ext cx="1719072" cy="7772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Extract pages, retrieve evidence, generate an answer.</a:t>
            </a:r>
            <a:endParaRPr lang="en-US" sz="1250" dirty="0"/>
          </a:p>
        </p:txBody>
      </p:sp>
      <p:sp>
        <p:nvSpPr>
          <p:cNvPr id="18" name="Shape 15"/>
          <p:cNvSpPr/>
          <p:nvPr/>
        </p:nvSpPr>
        <p:spPr>
          <a:xfrm>
            <a:off x="5266944" y="1956816"/>
            <a:ext cx="2103120" cy="2432304"/>
          </a:xfrm>
          <a:prstGeom prst="roundRect">
            <a:avLst>
              <a:gd name="adj" fmla="val 5217"/>
            </a:avLst>
          </a:prstGeom>
          <a:solidFill>
            <a:srgbClr val="FFFFFF"/>
          </a:solidFill>
          <a:ln w="12700">
            <a:solidFill>
              <a:srgbClr val="E1E6ED"/>
            </a:solidFill>
            <a:prstDash val="solid"/>
          </a:ln>
        </p:spPr>
      </p:sp>
      <p:sp>
        <p:nvSpPr>
          <p:cNvPr id="19" name="Shape 16"/>
          <p:cNvSpPr/>
          <p:nvPr/>
        </p:nvSpPr>
        <p:spPr>
          <a:xfrm>
            <a:off x="5449824" y="2176272"/>
            <a:ext cx="438912" cy="438912"/>
          </a:xfrm>
          <a:prstGeom prst="ellipse">
            <a:avLst/>
          </a:prstGeom>
          <a:solidFill>
            <a:srgbClr val="E9AE3C"/>
          </a:solidFill>
          <a:ln w="12700">
            <a:solidFill>
              <a:srgbClr val="E9AE3C">
                <a:alpha val="0"/>
              </a:srgbClr>
            </a:solidFill>
            <a:prstDash val="solid"/>
          </a:ln>
        </p:spPr>
      </p:sp>
      <p:sp>
        <p:nvSpPr>
          <p:cNvPr id="20" name="Text 17"/>
          <p:cNvSpPr txBox="1"/>
          <p:nvPr/>
        </p:nvSpPr>
        <p:spPr>
          <a:xfrm>
            <a:off x="5449824" y="2176272"/>
            <a:ext cx="438912" cy="438912"/>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03</a:t>
            </a:r>
            <a:endParaRPr lang="en-US" sz="1200" dirty="0"/>
          </a:p>
        </p:txBody>
      </p:sp>
      <p:sp>
        <p:nvSpPr>
          <p:cNvPr id="21" name="Text 18"/>
          <p:cNvSpPr txBox="1"/>
          <p:nvPr/>
        </p:nvSpPr>
        <p:spPr>
          <a:xfrm>
            <a:off x="5449824" y="2834640"/>
            <a:ext cx="1737360" cy="347472"/>
          </a:xfrm>
          <a:prstGeom prst="rect">
            <a:avLst/>
          </a:prstGeom>
          <a:noFill/>
          <a:ln/>
        </p:spPr>
        <p:txBody>
          <a:bodyPr wrap="square" lIns="0" tIns="0" rIns="0" bIns="0" rtlCol="0" anchor="ctr">
            <a:normAutofit/>
          </a:bodyPr>
          <a:lstStyle/>
          <a:p>
            <a:pPr marL="0" indent="0" algn="l">
              <a:buNone/>
            </a:pPr>
            <a:r>
              <a:rPr lang="en-US" sz="1900" b="1" dirty="0">
                <a:solidFill>
                  <a:srgbClr val="111B2E"/>
                </a:solidFill>
                <a:latin typeface="Aptos" pitchFamily="34" charset="0"/>
                <a:ea typeface="Aptos" pitchFamily="34" charset="-122"/>
                <a:cs typeface="Aptos" pitchFamily="34" charset="-120"/>
              </a:rPr>
              <a:t>Compare</a:t>
            </a:r>
            <a:endParaRPr lang="en-US" sz="1900" dirty="0"/>
          </a:p>
        </p:txBody>
      </p:sp>
      <p:sp>
        <p:nvSpPr>
          <p:cNvPr id="22" name="Text 19"/>
          <p:cNvSpPr txBox="1"/>
          <p:nvPr/>
        </p:nvSpPr>
        <p:spPr>
          <a:xfrm>
            <a:off x="5449824" y="3291840"/>
            <a:ext cx="1719072" cy="7772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TF-IDF versus sentence embeddings.</a:t>
            </a:r>
            <a:endParaRPr lang="en-US" sz="1250" dirty="0"/>
          </a:p>
        </p:txBody>
      </p:sp>
      <p:sp>
        <p:nvSpPr>
          <p:cNvPr id="23" name="Shape 20"/>
          <p:cNvSpPr/>
          <p:nvPr/>
        </p:nvSpPr>
        <p:spPr>
          <a:xfrm>
            <a:off x="7571232" y="1956816"/>
            <a:ext cx="2103120" cy="2432304"/>
          </a:xfrm>
          <a:prstGeom prst="roundRect">
            <a:avLst>
              <a:gd name="adj" fmla="val 5217"/>
            </a:avLst>
          </a:prstGeom>
          <a:solidFill>
            <a:srgbClr val="FFFFFF"/>
          </a:solidFill>
          <a:ln w="12700">
            <a:solidFill>
              <a:srgbClr val="E1E6ED"/>
            </a:solidFill>
            <a:prstDash val="solid"/>
          </a:ln>
        </p:spPr>
      </p:sp>
      <p:sp>
        <p:nvSpPr>
          <p:cNvPr id="24" name="Shape 21"/>
          <p:cNvSpPr/>
          <p:nvPr/>
        </p:nvSpPr>
        <p:spPr>
          <a:xfrm>
            <a:off x="7754112" y="2176272"/>
            <a:ext cx="438912" cy="438912"/>
          </a:xfrm>
          <a:prstGeom prst="ellipse">
            <a:avLst/>
          </a:prstGeom>
          <a:solidFill>
            <a:srgbClr val="F16B61"/>
          </a:solidFill>
          <a:ln w="12700">
            <a:solidFill>
              <a:srgbClr val="F16B61">
                <a:alpha val="0"/>
              </a:srgbClr>
            </a:solidFill>
            <a:prstDash val="solid"/>
          </a:ln>
        </p:spPr>
      </p:sp>
      <p:sp>
        <p:nvSpPr>
          <p:cNvPr id="25" name="Text 22"/>
          <p:cNvSpPr txBox="1"/>
          <p:nvPr/>
        </p:nvSpPr>
        <p:spPr>
          <a:xfrm>
            <a:off x="7754112" y="2176272"/>
            <a:ext cx="438912" cy="438912"/>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04</a:t>
            </a:r>
            <a:endParaRPr lang="en-US" sz="1200" dirty="0"/>
          </a:p>
        </p:txBody>
      </p:sp>
      <p:sp>
        <p:nvSpPr>
          <p:cNvPr id="26" name="Text 23"/>
          <p:cNvSpPr txBox="1"/>
          <p:nvPr/>
        </p:nvSpPr>
        <p:spPr>
          <a:xfrm>
            <a:off x="7754112" y="2834640"/>
            <a:ext cx="1737360" cy="347472"/>
          </a:xfrm>
          <a:prstGeom prst="rect">
            <a:avLst/>
          </a:prstGeom>
          <a:noFill/>
          <a:ln/>
        </p:spPr>
        <p:txBody>
          <a:bodyPr wrap="square" lIns="0" tIns="0" rIns="0" bIns="0" rtlCol="0" anchor="ctr">
            <a:normAutofit/>
          </a:bodyPr>
          <a:lstStyle/>
          <a:p>
            <a:pPr marL="0" indent="0" algn="l">
              <a:buNone/>
            </a:pPr>
            <a:r>
              <a:rPr lang="en-US" sz="1900" b="1" dirty="0">
                <a:solidFill>
                  <a:srgbClr val="111B2E"/>
                </a:solidFill>
                <a:latin typeface="Aptos" pitchFamily="34" charset="0"/>
                <a:ea typeface="Aptos" pitchFamily="34" charset="-122"/>
                <a:cs typeface="Aptos" pitchFamily="34" charset="-120"/>
              </a:rPr>
              <a:t>Measure</a:t>
            </a:r>
            <a:endParaRPr lang="en-US" sz="1900" dirty="0"/>
          </a:p>
        </p:txBody>
      </p:sp>
      <p:sp>
        <p:nvSpPr>
          <p:cNvPr id="27" name="Text 24"/>
          <p:cNvSpPr txBox="1"/>
          <p:nvPr/>
        </p:nvSpPr>
        <p:spPr>
          <a:xfrm>
            <a:off x="7754112" y="3291840"/>
            <a:ext cx="1719072" cy="7772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Retrieval metrics + human-reviewed answers.</a:t>
            </a:r>
            <a:endParaRPr lang="en-US" sz="1250" dirty="0"/>
          </a:p>
        </p:txBody>
      </p:sp>
      <p:sp>
        <p:nvSpPr>
          <p:cNvPr id="28" name="Shape 25"/>
          <p:cNvSpPr/>
          <p:nvPr/>
        </p:nvSpPr>
        <p:spPr>
          <a:xfrm>
            <a:off x="9875520" y="1956816"/>
            <a:ext cx="2103120" cy="2432304"/>
          </a:xfrm>
          <a:prstGeom prst="roundRect">
            <a:avLst>
              <a:gd name="adj" fmla="val 5217"/>
            </a:avLst>
          </a:prstGeom>
          <a:solidFill>
            <a:srgbClr val="FFFFFF"/>
          </a:solidFill>
          <a:ln w="12700">
            <a:solidFill>
              <a:srgbClr val="E1E6ED"/>
            </a:solidFill>
            <a:prstDash val="solid"/>
          </a:ln>
        </p:spPr>
      </p:sp>
      <p:sp>
        <p:nvSpPr>
          <p:cNvPr id="29" name="Shape 26"/>
          <p:cNvSpPr/>
          <p:nvPr/>
        </p:nvSpPr>
        <p:spPr>
          <a:xfrm>
            <a:off x="10058400" y="2176272"/>
            <a:ext cx="438912" cy="438912"/>
          </a:xfrm>
          <a:prstGeom prst="ellipse">
            <a:avLst/>
          </a:prstGeom>
          <a:solidFill>
            <a:srgbClr val="0FA99F"/>
          </a:solidFill>
          <a:ln w="12700">
            <a:solidFill>
              <a:srgbClr val="0FA99F">
                <a:alpha val="0"/>
              </a:srgbClr>
            </a:solidFill>
            <a:prstDash val="solid"/>
          </a:ln>
        </p:spPr>
      </p:sp>
      <p:sp>
        <p:nvSpPr>
          <p:cNvPr id="30" name="Text 27"/>
          <p:cNvSpPr txBox="1"/>
          <p:nvPr/>
        </p:nvSpPr>
        <p:spPr>
          <a:xfrm>
            <a:off x="10058400" y="2176272"/>
            <a:ext cx="438912" cy="438912"/>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05</a:t>
            </a:r>
            <a:endParaRPr lang="en-US" sz="1200" dirty="0"/>
          </a:p>
        </p:txBody>
      </p:sp>
      <p:sp>
        <p:nvSpPr>
          <p:cNvPr id="31" name="Text 28"/>
          <p:cNvSpPr txBox="1"/>
          <p:nvPr/>
        </p:nvSpPr>
        <p:spPr>
          <a:xfrm>
            <a:off x="10058400" y="2834640"/>
            <a:ext cx="1737360" cy="347472"/>
          </a:xfrm>
          <a:prstGeom prst="rect">
            <a:avLst/>
          </a:prstGeom>
          <a:noFill/>
          <a:ln/>
        </p:spPr>
        <p:txBody>
          <a:bodyPr wrap="square" lIns="0" tIns="0" rIns="0" bIns="0" rtlCol="0" anchor="ctr">
            <a:normAutofit/>
          </a:bodyPr>
          <a:lstStyle/>
          <a:p>
            <a:pPr marL="0" indent="0" algn="l">
              <a:buNone/>
            </a:pPr>
            <a:r>
              <a:rPr lang="en-US" sz="1900" b="1" dirty="0">
                <a:solidFill>
                  <a:srgbClr val="111B2E"/>
                </a:solidFill>
                <a:latin typeface="Aptos" pitchFamily="34" charset="0"/>
                <a:ea typeface="Aptos" pitchFamily="34" charset="-122"/>
                <a:cs typeface="Aptos" pitchFamily="34" charset="-120"/>
              </a:rPr>
              <a:t>Learn</a:t>
            </a:r>
            <a:endParaRPr lang="en-US" sz="1900" dirty="0"/>
          </a:p>
        </p:txBody>
      </p:sp>
      <p:sp>
        <p:nvSpPr>
          <p:cNvPr id="32" name="Text 29"/>
          <p:cNvSpPr txBox="1"/>
          <p:nvPr/>
        </p:nvSpPr>
        <p:spPr>
          <a:xfrm>
            <a:off x="10058400" y="3291840"/>
            <a:ext cx="1719072" cy="7772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Classify failures and decide what to improve.</a:t>
            </a:r>
            <a:endParaRPr lang="en-US" sz="1250" dirty="0"/>
          </a:p>
        </p:txBody>
      </p:sp>
      <p:sp>
        <p:nvSpPr>
          <p:cNvPr id="33" name="Shape 30"/>
          <p:cNvSpPr/>
          <p:nvPr/>
        </p:nvSpPr>
        <p:spPr>
          <a:xfrm>
            <a:off x="658368" y="4892040"/>
            <a:ext cx="10863072" cy="786384"/>
          </a:xfrm>
          <a:prstGeom prst="roundRect">
            <a:avLst>
              <a:gd name="adj" fmla="val 13953"/>
            </a:avLst>
          </a:prstGeom>
          <a:solidFill>
            <a:srgbClr val="111B2E"/>
          </a:solidFill>
          <a:ln w="12700">
            <a:solidFill>
              <a:srgbClr val="111B2E"/>
            </a:solidFill>
            <a:prstDash val="solid"/>
          </a:ln>
        </p:spPr>
      </p:sp>
      <p:sp>
        <p:nvSpPr>
          <p:cNvPr id="34" name="Text 31"/>
          <p:cNvSpPr txBox="1"/>
          <p:nvPr/>
        </p:nvSpPr>
        <p:spPr>
          <a:xfrm>
            <a:off x="896112" y="5093208"/>
            <a:ext cx="969264" cy="237744"/>
          </a:xfrm>
          <a:prstGeom prst="rect">
            <a:avLst/>
          </a:prstGeom>
          <a:noFill/>
          <a:ln/>
        </p:spPr>
        <p:txBody>
          <a:bodyPr wrap="square" lIns="0" tIns="0" rIns="0" bIns="0" rtlCol="0" anchor="ctr">
            <a:normAutofit/>
          </a:bodyPr>
          <a:lstStyle/>
          <a:p>
            <a:pPr marL="0" indent="0" algn="l">
              <a:buNone/>
            </a:pPr>
            <a:r>
              <a:rPr lang="en-US" sz="1200" b="1" dirty="0">
                <a:solidFill>
                  <a:srgbClr val="7DE0D6"/>
                </a:solidFill>
                <a:latin typeface="Aptos" pitchFamily="34" charset="0"/>
                <a:ea typeface="Aptos" pitchFamily="34" charset="-122"/>
                <a:cs typeface="Aptos" pitchFamily="34" charset="-120"/>
              </a:rPr>
              <a:t>Key idea</a:t>
            </a:r>
            <a:endParaRPr lang="en-US" sz="1200" dirty="0"/>
          </a:p>
        </p:txBody>
      </p:sp>
      <p:sp>
        <p:nvSpPr>
          <p:cNvPr id="35" name="Text 32"/>
          <p:cNvSpPr txBox="1"/>
          <p:nvPr/>
        </p:nvSpPr>
        <p:spPr>
          <a:xfrm>
            <a:off x="1956816" y="5010912"/>
            <a:ext cx="9098280" cy="402336"/>
          </a:xfrm>
          <a:prstGeom prst="rect">
            <a:avLst/>
          </a:prstGeom>
          <a:noFill/>
          <a:ln/>
        </p:spPr>
        <p:txBody>
          <a:bodyPr wrap="square" lIns="0" tIns="0" rIns="0" bIns="0" rtlCol="0" anchor="ctr">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Evaluate retrieval and generation as separate components—not just the final answer.</a:t>
            </a:r>
            <a:endParaRPr lang="en-US" sz="180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02 • REAL-WORLD PROBLEM</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A policy PDF is easy to search badly</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A plausible-sounding answer can still be wrong if it misses an exception, deadline, or exact contact.</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157277"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685800" y="1737360"/>
            <a:ext cx="3429000" cy="2029968"/>
          </a:xfrm>
          <a:prstGeom prst="roundRect">
            <a:avLst>
              <a:gd name="adj" fmla="val 5405"/>
            </a:avLst>
          </a:prstGeom>
          <a:solidFill>
            <a:srgbClr val="FFFFFF"/>
          </a:solidFill>
          <a:ln w="6350">
            <a:solidFill>
              <a:srgbClr val="E1E6ED"/>
            </a:solidFill>
            <a:prstDash val="solid"/>
          </a:ln>
        </p:spPr>
      </p:sp>
      <p:sp>
        <p:nvSpPr>
          <p:cNvPr id="9" name="Shape 6"/>
          <p:cNvSpPr/>
          <p:nvPr/>
        </p:nvSpPr>
        <p:spPr>
          <a:xfrm>
            <a:off x="685800" y="1737360"/>
            <a:ext cx="64008" cy="2029968"/>
          </a:xfrm>
          <a:prstGeom prst="rect">
            <a:avLst/>
          </a:prstGeom>
          <a:solidFill>
            <a:srgbClr val="0FA99F"/>
          </a:solidFill>
          <a:ln w="12700">
            <a:solidFill>
              <a:srgbClr val="0FA99F">
                <a:alpha val="0"/>
              </a:srgbClr>
            </a:solidFill>
            <a:prstDash val="solid"/>
          </a:ln>
        </p:spPr>
      </p:sp>
      <p:sp>
        <p:nvSpPr>
          <p:cNvPr id="10" name="Shape 7"/>
          <p:cNvSpPr/>
          <p:nvPr/>
        </p:nvSpPr>
        <p:spPr>
          <a:xfrm>
            <a:off x="886968" y="1920240"/>
            <a:ext cx="320040" cy="320040"/>
          </a:xfrm>
          <a:prstGeom prst="ellipse">
            <a:avLst/>
          </a:prstGeom>
          <a:solidFill>
            <a:srgbClr val="0FA99F"/>
          </a:solidFill>
          <a:ln w="12700">
            <a:solidFill>
              <a:srgbClr val="0FA99F">
                <a:alpha val="0"/>
              </a:srgbClr>
            </a:solidFill>
            <a:prstDash val="solid"/>
          </a:ln>
        </p:spPr>
      </p:sp>
      <p:sp>
        <p:nvSpPr>
          <p:cNvPr id="11" name="Text 8"/>
          <p:cNvSpPr txBox="1"/>
          <p:nvPr/>
        </p:nvSpPr>
        <p:spPr>
          <a:xfrm>
            <a:off x="886968" y="1920240"/>
            <a:ext cx="320040"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9"/>
          <p:cNvSpPr txBox="1"/>
          <p:nvPr/>
        </p:nvSpPr>
        <p:spPr>
          <a:xfrm>
            <a:off x="1344168" y="1901952"/>
            <a:ext cx="2606040" cy="274320"/>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Find the right rule</a:t>
            </a:r>
            <a:endParaRPr lang="en-US" sz="1700" dirty="0"/>
          </a:p>
        </p:txBody>
      </p:sp>
      <p:sp>
        <p:nvSpPr>
          <p:cNvPr id="13" name="Text 10"/>
          <p:cNvSpPr txBox="1"/>
          <p:nvPr/>
        </p:nvSpPr>
        <p:spPr>
          <a:xfrm>
            <a:off x="905256" y="2267712"/>
            <a:ext cx="3026664" cy="1408176"/>
          </a:xfrm>
          <a:prstGeom prst="rect">
            <a:avLst/>
          </a:prstGeom>
          <a:noFill/>
          <a:ln/>
        </p:spPr>
        <p:txBody>
          <a:bodyPr wrap="square" lIns="0" tIns="0" rIns="0" bIns="0" rtlCol="0" anchor="t">
            <a:normAutofit/>
          </a:bodyPr>
          <a:lstStyle/>
          <a:p>
            <a:pPr marL="0" indent="0" algn="l">
              <a:buNone/>
            </a:pPr>
            <a:r>
              <a:rPr lang="en-US" sz="1300" dirty="0">
                <a:solidFill>
                  <a:srgbClr val="5E6A7C"/>
                </a:solidFill>
                <a:latin typeface="Aptos" pitchFamily="34" charset="0"/>
                <a:ea typeface="Aptos" pitchFamily="34" charset="-122"/>
                <a:cs typeface="Aptos" pitchFamily="34" charset="-120"/>
              </a:rPr>
              <a:t>A question may use words that differ from the document wording.</a:t>
            </a:r>
            <a:endParaRPr lang="en-US" sz="1300" dirty="0"/>
          </a:p>
          <a:p>
            <a:pPr marL="0" indent="0" algn="l">
              <a:buNone/>
            </a:pPr>
            <a:endParaRPr lang="en-US" sz="1300" dirty="0"/>
          </a:p>
          <a:p>
            <a:pPr marL="0" indent="0" algn="l">
              <a:buNone/>
            </a:pPr>
            <a:r>
              <a:rPr lang="en-US" sz="1300" dirty="0">
                <a:solidFill>
                  <a:srgbClr val="5E6A7C"/>
                </a:solidFill>
                <a:latin typeface="Aptos" pitchFamily="34" charset="0"/>
                <a:ea typeface="Aptos" pitchFamily="34" charset="-122"/>
                <a:cs typeface="Aptos" pitchFamily="34" charset="-120"/>
              </a:rPr>
              <a:t>Example: “Where do I report a theft?”</a:t>
            </a:r>
            <a:endParaRPr lang="en-US" sz="1300" dirty="0"/>
          </a:p>
        </p:txBody>
      </p:sp>
      <p:sp>
        <p:nvSpPr>
          <p:cNvPr id="14" name="Shape 11"/>
          <p:cNvSpPr/>
          <p:nvPr/>
        </p:nvSpPr>
        <p:spPr>
          <a:xfrm>
            <a:off x="4370832" y="1737360"/>
            <a:ext cx="3429000" cy="2029968"/>
          </a:xfrm>
          <a:prstGeom prst="roundRect">
            <a:avLst>
              <a:gd name="adj" fmla="val 5405"/>
            </a:avLst>
          </a:prstGeom>
          <a:solidFill>
            <a:srgbClr val="FFFFFF"/>
          </a:solidFill>
          <a:ln w="6350">
            <a:solidFill>
              <a:srgbClr val="E1E6ED"/>
            </a:solidFill>
            <a:prstDash val="solid"/>
          </a:ln>
        </p:spPr>
      </p:sp>
      <p:sp>
        <p:nvSpPr>
          <p:cNvPr id="15" name="Shape 12"/>
          <p:cNvSpPr/>
          <p:nvPr/>
        </p:nvSpPr>
        <p:spPr>
          <a:xfrm>
            <a:off x="4370832" y="1737360"/>
            <a:ext cx="64008" cy="2029968"/>
          </a:xfrm>
          <a:prstGeom prst="rect">
            <a:avLst/>
          </a:prstGeom>
          <a:solidFill>
            <a:srgbClr val="4E6BFF"/>
          </a:solidFill>
          <a:ln w="12700">
            <a:solidFill>
              <a:srgbClr val="4E6BFF">
                <a:alpha val="0"/>
              </a:srgbClr>
            </a:solidFill>
            <a:prstDash val="solid"/>
          </a:ln>
        </p:spPr>
      </p:sp>
      <p:sp>
        <p:nvSpPr>
          <p:cNvPr id="16" name="Shape 13"/>
          <p:cNvSpPr/>
          <p:nvPr/>
        </p:nvSpPr>
        <p:spPr>
          <a:xfrm>
            <a:off x="4572000" y="1920240"/>
            <a:ext cx="320040" cy="320040"/>
          </a:xfrm>
          <a:prstGeom prst="ellipse">
            <a:avLst/>
          </a:prstGeom>
          <a:solidFill>
            <a:srgbClr val="4E6BFF"/>
          </a:solidFill>
          <a:ln w="12700">
            <a:solidFill>
              <a:srgbClr val="4E6BFF">
                <a:alpha val="0"/>
              </a:srgbClr>
            </a:solidFill>
            <a:prstDash val="solid"/>
          </a:ln>
        </p:spPr>
      </p:sp>
      <p:sp>
        <p:nvSpPr>
          <p:cNvPr id="17" name="Text 14"/>
          <p:cNvSpPr txBox="1"/>
          <p:nvPr/>
        </p:nvSpPr>
        <p:spPr>
          <a:xfrm>
            <a:off x="4572000" y="1920240"/>
            <a:ext cx="320040"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5"/>
          <p:cNvSpPr txBox="1"/>
          <p:nvPr/>
        </p:nvSpPr>
        <p:spPr>
          <a:xfrm>
            <a:off x="5029200" y="1901952"/>
            <a:ext cx="2606040" cy="274320"/>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Use the evidence</a:t>
            </a:r>
            <a:endParaRPr lang="en-US" sz="1700" dirty="0"/>
          </a:p>
        </p:txBody>
      </p:sp>
      <p:sp>
        <p:nvSpPr>
          <p:cNvPr id="19" name="Text 16"/>
          <p:cNvSpPr txBox="1"/>
          <p:nvPr/>
        </p:nvSpPr>
        <p:spPr>
          <a:xfrm>
            <a:off x="4590288" y="2267712"/>
            <a:ext cx="3026664" cy="1408176"/>
          </a:xfrm>
          <a:prstGeom prst="rect">
            <a:avLst/>
          </a:prstGeom>
          <a:noFill/>
          <a:ln/>
        </p:spPr>
        <p:txBody>
          <a:bodyPr wrap="square" lIns="0" tIns="0" rIns="0" bIns="0" rtlCol="0" anchor="t">
            <a:normAutofit/>
          </a:bodyPr>
          <a:lstStyle/>
          <a:p>
            <a:pPr marL="0" indent="0" algn="l">
              <a:buNone/>
            </a:pPr>
            <a:r>
              <a:rPr lang="en-US" sz="1300" dirty="0">
                <a:solidFill>
                  <a:srgbClr val="5E6A7C"/>
                </a:solidFill>
                <a:latin typeface="Aptos" pitchFamily="34" charset="0"/>
                <a:ea typeface="Aptos" pitchFamily="34" charset="-122"/>
                <a:cs typeface="Aptos" pitchFamily="34" charset="-120"/>
              </a:rPr>
              <a:t>A wrong page can omit an exception, deadline, or responsible office.</a:t>
            </a:r>
            <a:endParaRPr lang="en-US" sz="1300" dirty="0"/>
          </a:p>
          <a:p>
            <a:pPr marL="0" indent="0" algn="l">
              <a:buNone/>
            </a:pPr>
            <a:endParaRPr lang="en-US" sz="1300" dirty="0"/>
          </a:p>
          <a:p>
            <a:pPr marL="0" indent="0" algn="l">
              <a:buNone/>
            </a:pPr>
            <a:r>
              <a:rPr lang="en-US" sz="1300" dirty="0">
                <a:solidFill>
                  <a:srgbClr val="5E6A7C"/>
                </a:solidFill>
                <a:latin typeface="Aptos" pitchFamily="34" charset="0"/>
                <a:ea typeface="Aptos" pitchFamily="34" charset="-122"/>
                <a:cs typeface="Aptos" pitchFamily="34" charset="-120"/>
              </a:rPr>
              <a:t>The answer needs relevant passages.</a:t>
            </a:r>
            <a:endParaRPr lang="en-US" sz="1300" dirty="0"/>
          </a:p>
        </p:txBody>
      </p:sp>
      <p:sp>
        <p:nvSpPr>
          <p:cNvPr id="20" name="Shape 17"/>
          <p:cNvSpPr/>
          <p:nvPr/>
        </p:nvSpPr>
        <p:spPr>
          <a:xfrm>
            <a:off x="8046720" y="1737360"/>
            <a:ext cx="3429000" cy="2029968"/>
          </a:xfrm>
          <a:prstGeom prst="roundRect">
            <a:avLst>
              <a:gd name="adj" fmla="val 5405"/>
            </a:avLst>
          </a:prstGeom>
          <a:solidFill>
            <a:srgbClr val="FFFFFF"/>
          </a:solidFill>
          <a:ln w="6350">
            <a:solidFill>
              <a:srgbClr val="E1E6ED"/>
            </a:solidFill>
            <a:prstDash val="solid"/>
          </a:ln>
        </p:spPr>
      </p:sp>
      <p:sp>
        <p:nvSpPr>
          <p:cNvPr id="21" name="Shape 18"/>
          <p:cNvSpPr/>
          <p:nvPr/>
        </p:nvSpPr>
        <p:spPr>
          <a:xfrm>
            <a:off x="8046720" y="1737360"/>
            <a:ext cx="64008" cy="2029968"/>
          </a:xfrm>
          <a:prstGeom prst="rect">
            <a:avLst/>
          </a:prstGeom>
          <a:solidFill>
            <a:srgbClr val="F16B61"/>
          </a:solidFill>
          <a:ln w="12700">
            <a:solidFill>
              <a:srgbClr val="F16B61">
                <a:alpha val="0"/>
              </a:srgbClr>
            </a:solidFill>
            <a:prstDash val="solid"/>
          </a:ln>
        </p:spPr>
      </p:sp>
      <p:sp>
        <p:nvSpPr>
          <p:cNvPr id="22" name="Shape 19"/>
          <p:cNvSpPr/>
          <p:nvPr/>
        </p:nvSpPr>
        <p:spPr>
          <a:xfrm>
            <a:off x="8247888" y="1920240"/>
            <a:ext cx="320040" cy="320040"/>
          </a:xfrm>
          <a:prstGeom prst="ellipse">
            <a:avLst/>
          </a:prstGeom>
          <a:solidFill>
            <a:srgbClr val="F16B61"/>
          </a:solidFill>
          <a:ln w="12700">
            <a:solidFill>
              <a:srgbClr val="F16B61">
                <a:alpha val="0"/>
              </a:srgbClr>
            </a:solidFill>
            <a:prstDash val="solid"/>
          </a:ln>
        </p:spPr>
      </p:sp>
      <p:sp>
        <p:nvSpPr>
          <p:cNvPr id="23" name="Text 20"/>
          <p:cNvSpPr txBox="1"/>
          <p:nvPr/>
        </p:nvSpPr>
        <p:spPr>
          <a:xfrm>
            <a:off x="8247888" y="1920240"/>
            <a:ext cx="320040"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4" name="Text 21"/>
          <p:cNvSpPr txBox="1"/>
          <p:nvPr/>
        </p:nvSpPr>
        <p:spPr>
          <a:xfrm>
            <a:off x="8705088" y="1901952"/>
            <a:ext cx="2606040" cy="274320"/>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Avoid confident errors</a:t>
            </a:r>
            <a:endParaRPr lang="en-US" sz="1700" dirty="0"/>
          </a:p>
        </p:txBody>
      </p:sp>
      <p:sp>
        <p:nvSpPr>
          <p:cNvPr id="25" name="Text 22"/>
          <p:cNvSpPr txBox="1"/>
          <p:nvPr/>
        </p:nvSpPr>
        <p:spPr>
          <a:xfrm>
            <a:off x="8266176" y="2267712"/>
            <a:ext cx="3026664" cy="1408176"/>
          </a:xfrm>
          <a:prstGeom prst="rect">
            <a:avLst/>
          </a:prstGeom>
          <a:noFill/>
          <a:ln/>
        </p:spPr>
        <p:txBody>
          <a:bodyPr wrap="square" lIns="0" tIns="0" rIns="0" bIns="0" rtlCol="0" anchor="t">
            <a:normAutofit/>
          </a:bodyPr>
          <a:lstStyle/>
          <a:p>
            <a:pPr marL="0" indent="0" algn="l">
              <a:buNone/>
            </a:pPr>
            <a:r>
              <a:rPr lang="en-US" sz="1300" dirty="0">
                <a:solidFill>
                  <a:srgbClr val="5E6A7C"/>
                </a:solidFill>
                <a:latin typeface="Aptos" pitchFamily="34" charset="0"/>
                <a:ea typeface="Aptos" pitchFamily="34" charset="-122"/>
                <a:cs typeface="Aptos" pitchFamily="34" charset="-120"/>
              </a:rPr>
              <a:t>A model can miss a rule even when the page is retrieved—or add a claim the page never makes.</a:t>
            </a:r>
            <a:endParaRPr lang="en-US" sz="1300" dirty="0"/>
          </a:p>
        </p:txBody>
      </p:sp>
      <p:sp>
        <p:nvSpPr>
          <p:cNvPr id="26" name="Text 23"/>
          <p:cNvSpPr txBox="1"/>
          <p:nvPr/>
        </p:nvSpPr>
        <p:spPr>
          <a:xfrm>
            <a:off x="749808" y="4361688"/>
            <a:ext cx="1188720" cy="256032"/>
          </a:xfrm>
          <a:prstGeom prst="rect">
            <a:avLst/>
          </a:prstGeom>
          <a:noFill/>
          <a:ln/>
        </p:spPr>
        <p:txBody>
          <a:bodyPr wrap="square" lIns="0" tIns="0" rIns="0" bIns="0" rtlCol="0" anchor="ctr">
            <a:normAutofit/>
          </a:bodyPr>
          <a:lstStyle/>
          <a:p>
            <a:pPr marL="0" indent="0" algn="l">
              <a:buNone/>
            </a:pPr>
            <a:r>
              <a:rPr lang="en-US" sz="1300" b="1" dirty="0">
                <a:solidFill>
                  <a:srgbClr val="0FA99F"/>
                </a:solidFill>
                <a:latin typeface="Aptos" pitchFamily="34" charset="0"/>
                <a:ea typeface="Aptos" pitchFamily="34" charset="-122"/>
                <a:cs typeface="Aptos" pitchFamily="34" charset="-120"/>
              </a:rPr>
              <a:t>Why RAG?</a:t>
            </a:r>
            <a:endParaRPr lang="en-US" sz="1300" dirty="0"/>
          </a:p>
        </p:txBody>
      </p:sp>
      <p:sp>
        <p:nvSpPr>
          <p:cNvPr id="27" name="Text 24"/>
          <p:cNvSpPr txBox="1"/>
          <p:nvPr/>
        </p:nvSpPr>
        <p:spPr>
          <a:xfrm>
            <a:off x="749808" y="4736592"/>
            <a:ext cx="10515600" cy="768096"/>
          </a:xfrm>
          <a:prstGeom prst="rect">
            <a:avLst/>
          </a:prstGeom>
          <a:noFill/>
          <a:ln/>
        </p:spPr>
        <p:txBody>
          <a:bodyPr wrap="square" lIns="0" tIns="0" rIns="0" bIns="0" rtlCol="0" anchor="t">
            <a:normAutofit/>
          </a:bodyPr>
          <a:lstStyle/>
          <a:p>
            <a:pPr marL="0" indent="0" algn="l">
              <a:buNone/>
            </a:pPr>
            <a:r>
              <a:rPr lang="en-US" sz="2100" b="1" dirty="0">
                <a:solidFill>
                  <a:srgbClr val="111B2E"/>
                </a:solidFill>
                <a:latin typeface="Aptos" pitchFamily="34" charset="0"/>
                <a:ea typeface="Aptos" pitchFamily="34" charset="-122"/>
                <a:cs typeface="Aptos" pitchFamily="34" charset="-120"/>
              </a:rPr>
              <a:t>Connect answers to retrieved document evidence, then test whether the retrieval and generation stages both behave correctly.</a:t>
            </a:r>
            <a:endParaRPr lang="en-US" sz="210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03 • RESEARCH QUESTION</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The question is about the whole pipeline</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One variable changes (the retriever); the answer-generation model and prompt stay the same.</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209702"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31520" y="1719072"/>
            <a:ext cx="10771632" cy="1234440"/>
          </a:xfrm>
          <a:prstGeom prst="roundRect">
            <a:avLst>
              <a:gd name="adj" fmla="val 8889"/>
            </a:avLst>
          </a:prstGeom>
          <a:solidFill>
            <a:srgbClr val="111B2E"/>
          </a:solidFill>
          <a:ln w="12700">
            <a:solidFill>
              <a:srgbClr val="111B2E"/>
            </a:solidFill>
            <a:prstDash val="solid"/>
          </a:ln>
        </p:spPr>
      </p:sp>
      <p:sp>
        <p:nvSpPr>
          <p:cNvPr id="9" name="Text 6"/>
          <p:cNvSpPr txBox="1"/>
          <p:nvPr/>
        </p:nvSpPr>
        <p:spPr>
          <a:xfrm>
            <a:off x="987552" y="1938528"/>
            <a:ext cx="2103120" cy="210312"/>
          </a:xfrm>
          <a:prstGeom prst="rect">
            <a:avLst/>
          </a:prstGeom>
          <a:noFill/>
          <a:ln/>
        </p:spPr>
        <p:txBody>
          <a:bodyPr wrap="square" lIns="0" tIns="0" rIns="0" bIns="0" rtlCol="0" anchor="ctr">
            <a:normAutofit/>
          </a:bodyPr>
          <a:lstStyle/>
          <a:p>
            <a:pPr marL="0" indent="0" algn="l">
              <a:buNone/>
            </a:pPr>
            <a:r>
              <a:rPr lang="en-US" sz="1000" b="1" kern="0" spc="110" dirty="0">
                <a:solidFill>
                  <a:srgbClr val="7DE0D6"/>
                </a:solidFill>
                <a:latin typeface="Aptos" pitchFamily="34" charset="0"/>
                <a:ea typeface="Aptos" pitchFamily="34" charset="-122"/>
                <a:cs typeface="Aptos" pitchFamily="34" charset="-120"/>
              </a:rPr>
              <a:t>RESEARCH QUESTION</a:t>
            </a:r>
            <a:endParaRPr lang="en-US" sz="1000" dirty="0"/>
          </a:p>
        </p:txBody>
      </p:sp>
      <p:sp>
        <p:nvSpPr>
          <p:cNvPr id="10" name="Text 7"/>
          <p:cNvSpPr txBox="1"/>
          <p:nvPr/>
        </p:nvSpPr>
        <p:spPr>
          <a:xfrm>
            <a:off x="987552" y="2267712"/>
            <a:ext cx="9966960" cy="438912"/>
          </a:xfrm>
          <a:prstGeom prst="rect">
            <a:avLst/>
          </a:prstGeom>
          <a:noFill/>
          <a:ln/>
        </p:spPr>
        <p:txBody>
          <a:bodyPr wrap="square" lIns="0" tIns="0" rIns="0" bIns="0" rtlCol="0" anchor="ctr">
            <a:normAutofit/>
          </a:bodyPr>
          <a:lstStyle/>
          <a:p>
            <a:pPr marL="0" indent="0" algn="l">
              <a:buNone/>
            </a:pPr>
            <a:r>
              <a:rPr lang="en-US" sz="2500" b="1" dirty="0">
                <a:solidFill>
                  <a:srgbClr val="FFFFFF"/>
                </a:solidFill>
                <a:latin typeface="Aptos" pitchFamily="34" charset="0"/>
                <a:ea typeface="Aptos" pitchFamily="34" charset="-122"/>
                <a:cs typeface="Aptos" pitchFamily="34" charset="-120"/>
              </a:rPr>
              <a:t>Does better retrieval automatically mean a better answer?</a:t>
            </a:r>
            <a:endParaRPr lang="en-US" sz="2500" dirty="0"/>
          </a:p>
        </p:txBody>
      </p:sp>
      <p:sp>
        <p:nvSpPr>
          <p:cNvPr id="11" name="Shape 8"/>
          <p:cNvSpPr/>
          <p:nvPr/>
        </p:nvSpPr>
        <p:spPr>
          <a:xfrm>
            <a:off x="749808" y="3337560"/>
            <a:ext cx="5074920" cy="1591056"/>
          </a:xfrm>
          <a:prstGeom prst="roundRect">
            <a:avLst>
              <a:gd name="adj" fmla="val 6897"/>
            </a:avLst>
          </a:prstGeom>
          <a:solidFill>
            <a:srgbClr val="EEF1FF"/>
          </a:solidFill>
          <a:ln w="6350">
            <a:solidFill>
              <a:srgbClr val="E1E6ED"/>
            </a:solidFill>
            <a:prstDash val="solid"/>
          </a:ln>
        </p:spPr>
      </p:sp>
      <p:sp>
        <p:nvSpPr>
          <p:cNvPr id="12" name="Shape 9"/>
          <p:cNvSpPr/>
          <p:nvPr/>
        </p:nvSpPr>
        <p:spPr>
          <a:xfrm>
            <a:off x="749808" y="3337560"/>
            <a:ext cx="64008" cy="1591056"/>
          </a:xfrm>
          <a:prstGeom prst="rect">
            <a:avLst/>
          </a:prstGeom>
          <a:solidFill>
            <a:srgbClr val="4E6BFF"/>
          </a:solidFill>
          <a:ln w="12700">
            <a:solidFill>
              <a:srgbClr val="4E6BFF">
                <a:alpha val="0"/>
              </a:srgbClr>
            </a:solidFill>
            <a:prstDash val="solid"/>
          </a:ln>
        </p:spPr>
      </p:sp>
      <p:sp>
        <p:nvSpPr>
          <p:cNvPr id="13" name="Text 10"/>
          <p:cNvSpPr txBox="1"/>
          <p:nvPr/>
        </p:nvSpPr>
        <p:spPr>
          <a:xfrm>
            <a:off x="950976" y="3502152"/>
            <a:ext cx="4709160" cy="274320"/>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Working hypothesis</a:t>
            </a:r>
            <a:endParaRPr lang="en-US" sz="1700" dirty="0"/>
          </a:p>
        </p:txBody>
      </p:sp>
      <p:sp>
        <p:nvSpPr>
          <p:cNvPr id="14" name="Text 11"/>
          <p:cNvSpPr txBox="1"/>
          <p:nvPr/>
        </p:nvSpPr>
        <p:spPr>
          <a:xfrm>
            <a:off x="969264" y="3867912"/>
            <a:ext cx="4672584" cy="969264"/>
          </a:xfrm>
          <a:prstGeom prst="rect">
            <a:avLst/>
          </a:prstGeom>
          <a:noFill/>
          <a:ln/>
        </p:spPr>
        <p:txBody>
          <a:bodyPr wrap="square" lIns="0" tIns="0" rIns="0" bIns="0" rtlCol="0" anchor="t">
            <a:normAutofit/>
          </a:bodyPr>
          <a:lstStyle/>
          <a:p>
            <a:pPr marL="0" indent="0" algn="l">
              <a:buNone/>
            </a:pPr>
            <a:r>
              <a:rPr lang="en-US" sz="1400" dirty="0">
                <a:solidFill>
                  <a:srgbClr val="5E6A7C"/>
                </a:solidFill>
                <a:latin typeface="Aptos" pitchFamily="34" charset="0"/>
                <a:ea typeface="Aptos" pitchFamily="34" charset="-122"/>
                <a:cs typeface="Aptos" pitchFamily="34" charset="-120"/>
              </a:rPr>
              <a:t>Semantic search may find useful passages for paraphrased questions, but retrieval improvement alone will not guarantee correct generation.</a:t>
            </a:r>
            <a:endParaRPr lang="en-US" sz="1400" dirty="0"/>
          </a:p>
        </p:txBody>
      </p:sp>
      <p:sp>
        <p:nvSpPr>
          <p:cNvPr id="15" name="Shape 12"/>
          <p:cNvSpPr/>
          <p:nvPr/>
        </p:nvSpPr>
        <p:spPr>
          <a:xfrm>
            <a:off x="6126480" y="3337560"/>
            <a:ext cx="5074920" cy="1591056"/>
          </a:xfrm>
          <a:prstGeom prst="roundRect">
            <a:avLst>
              <a:gd name="adj" fmla="val 6897"/>
            </a:avLst>
          </a:prstGeom>
          <a:solidFill>
            <a:srgbClr val="E9F8F6"/>
          </a:solidFill>
          <a:ln w="6350">
            <a:solidFill>
              <a:srgbClr val="E1E6ED"/>
            </a:solidFill>
            <a:prstDash val="solid"/>
          </a:ln>
        </p:spPr>
      </p:sp>
      <p:sp>
        <p:nvSpPr>
          <p:cNvPr id="16" name="Shape 13"/>
          <p:cNvSpPr/>
          <p:nvPr/>
        </p:nvSpPr>
        <p:spPr>
          <a:xfrm>
            <a:off x="6126480" y="3337560"/>
            <a:ext cx="64008" cy="1591056"/>
          </a:xfrm>
          <a:prstGeom prst="rect">
            <a:avLst/>
          </a:prstGeom>
          <a:solidFill>
            <a:srgbClr val="0FA99F"/>
          </a:solidFill>
          <a:ln w="12700">
            <a:solidFill>
              <a:srgbClr val="0FA99F">
                <a:alpha val="0"/>
              </a:srgbClr>
            </a:solidFill>
            <a:prstDash val="solid"/>
          </a:ln>
        </p:spPr>
      </p:sp>
      <p:sp>
        <p:nvSpPr>
          <p:cNvPr id="17" name="Text 14"/>
          <p:cNvSpPr txBox="1"/>
          <p:nvPr/>
        </p:nvSpPr>
        <p:spPr>
          <a:xfrm>
            <a:off x="6327648" y="3502152"/>
            <a:ext cx="4709160" cy="274320"/>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Controlled comparison</a:t>
            </a:r>
            <a:endParaRPr lang="en-US" sz="1700" dirty="0"/>
          </a:p>
        </p:txBody>
      </p:sp>
      <p:sp>
        <p:nvSpPr>
          <p:cNvPr id="18" name="Text 15"/>
          <p:cNvSpPr txBox="1"/>
          <p:nvPr/>
        </p:nvSpPr>
        <p:spPr>
          <a:xfrm>
            <a:off x="6345936" y="3867912"/>
            <a:ext cx="4672584" cy="969264"/>
          </a:xfrm>
          <a:prstGeom prst="rect">
            <a:avLst/>
          </a:prstGeom>
          <a:noFill/>
          <a:ln/>
        </p:spPr>
        <p:txBody>
          <a:bodyPr wrap="square" lIns="0" tIns="0" rIns="0" bIns="0" rtlCol="0" anchor="t">
            <a:normAutofit/>
          </a:bodyPr>
          <a:lstStyle/>
          <a:p>
            <a:pPr marL="0" indent="0" algn="l">
              <a:buNone/>
            </a:pPr>
            <a:r>
              <a:rPr lang="en-US" sz="1400" dirty="0">
                <a:solidFill>
                  <a:srgbClr val="5E6A7C"/>
                </a:solidFill>
                <a:latin typeface="Aptos" pitchFamily="34" charset="0"/>
                <a:ea typeface="Aptos" pitchFamily="34" charset="-122"/>
                <a:cs typeface="Aptos" pitchFamily="34" charset="-120"/>
              </a:rPr>
              <a:t>Change the retriever only. Keep the benchmark, top-k = 3, model, and generation prompt fixed.</a:t>
            </a:r>
            <a:endParaRPr lang="en-US" sz="1400" dirty="0"/>
          </a:p>
        </p:txBody>
      </p:sp>
      <p:sp>
        <p:nvSpPr>
          <p:cNvPr id="19" name="Shape 16"/>
          <p:cNvSpPr/>
          <p:nvPr/>
        </p:nvSpPr>
        <p:spPr>
          <a:xfrm>
            <a:off x="768096" y="5330952"/>
            <a:ext cx="4096512" cy="283464"/>
          </a:xfrm>
          <a:prstGeom prst="roundRect">
            <a:avLst>
              <a:gd name="adj" fmla="val 38710"/>
            </a:avLst>
          </a:prstGeom>
          <a:solidFill>
            <a:srgbClr val="FFF7E5"/>
          </a:solidFill>
          <a:ln w="12700">
            <a:solidFill>
              <a:srgbClr val="FFF7E5">
                <a:alpha val="0"/>
              </a:srgbClr>
            </a:solidFill>
            <a:prstDash val="solid"/>
          </a:ln>
        </p:spPr>
      </p:sp>
      <p:sp>
        <p:nvSpPr>
          <p:cNvPr id="20" name="Text 17"/>
          <p:cNvSpPr txBox="1"/>
          <p:nvPr/>
        </p:nvSpPr>
        <p:spPr>
          <a:xfrm>
            <a:off x="841248" y="5349240"/>
            <a:ext cx="3950208" cy="237744"/>
          </a:xfrm>
          <a:prstGeom prst="rect">
            <a:avLst/>
          </a:prstGeom>
          <a:noFill/>
          <a:ln/>
        </p:spPr>
        <p:txBody>
          <a:bodyPr wrap="square" lIns="0" tIns="0" rIns="0" bIns="0" rtlCol="0" anchor="ctr">
            <a:normAutofit/>
          </a:bodyPr>
          <a:lstStyle/>
          <a:p>
            <a:pPr marL="0" indent="0" algn="ctr">
              <a:buNone/>
            </a:pPr>
            <a:r>
              <a:rPr lang="en-US" sz="1000" b="1" dirty="0">
                <a:solidFill>
                  <a:srgbClr val="1D2939"/>
                </a:solidFill>
                <a:latin typeface="Aptos" pitchFamily="34" charset="0"/>
                <a:ea typeface="Aptos" pitchFamily="34" charset="-122"/>
                <a:cs typeface="Aptos" pitchFamily="34" charset="-120"/>
              </a:rPr>
              <a:t>COMPARE THE SYSTEM, NOT JUST A SINGLE ANSWER</a:t>
            </a:r>
            <a:endParaRPr lang="en-US" sz="1000" dirty="0"/>
          </a:p>
        </p:txBody>
      </p:sp>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04 • DATASET</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What the system knows—and what it does not</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A small, page-labelled benchmark from the supplied BIT Mesra student rules PDF.</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262128"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13232" y="1783080"/>
            <a:ext cx="2487168" cy="1207008"/>
          </a:xfrm>
          <a:prstGeom prst="roundRect">
            <a:avLst>
              <a:gd name="adj" fmla="val 9091"/>
            </a:avLst>
          </a:prstGeom>
          <a:solidFill>
            <a:srgbClr val="EEF1FF"/>
          </a:solidFill>
          <a:ln w="12700">
            <a:solidFill>
              <a:srgbClr val="EEF1FF"/>
            </a:solidFill>
            <a:prstDash val="solid"/>
          </a:ln>
        </p:spPr>
      </p:sp>
      <p:sp>
        <p:nvSpPr>
          <p:cNvPr id="9" name="Text 6"/>
          <p:cNvSpPr txBox="1"/>
          <p:nvPr/>
        </p:nvSpPr>
        <p:spPr>
          <a:xfrm>
            <a:off x="877824" y="1920240"/>
            <a:ext cx="777240" cy="475488"/>
          </a:xfrm>
          <a:prstGeom prst="rect">
            <a:avLst/>
          </a:prstGeom>
          <a:noFill/>
          <a:ln/>
        </p:spPr>
        <p:txBody>
          <a:bodyPr wrap="square" lIns="0" tIns="0" rIns="0" bIns="0" rtlCol="0" anchor="ctr">
            <a:normAutofit/>
          </a:bodyPr>
          <a:lstStyle/>
          <a:p>
            <a:pPr marL="0" indent="0" algn="l">
              <a:buNone/>
            </a:pPr>
            <a:r>
              <a:rPr lang="en-US" sz="3000" b="1" dirty="0">
                <a:solidFill>
                  <a:srgbClr val="4E6BFF"/>
                </a:solidFill>
                <a:latin typeface="Aptos" pitchFamily="34" charset="0"/>
                <a:ea typeface="Aptos" pitchFamily="34" charset="-122"/>
                <a:cs typeface="Aptos" pitchFamily="34" charset="-120"/>
              </a:rPr>
              <a:t>24</a:t>
            </a:r>
            <a:endParaRPr lang="en-US" sz="3000" dirty="0"/>
          </a:p>
        </p:txBody>
      </p:sp>
      <p:sp>
        <p:nvSpPr>
          <p:cNvPr id="10" name="Text 7"/>
          <p:cNvSpPr txBox="1"/>
          <p:nvPr/>
        </p:nvSpPr>
        <p:spPr>
          <a:xfrm>
            <a:off x="1627632" y="1975104"/>
            <a:ext cx="1389888" cy="420624"/>
          </a:xfrm>
          <a:prstGeom prst="rect">
            <a:avLst/>
          </a:prstGeom>
          <a:noFill/>
          <a:ln/>
        </p:spPr>
        <p:txBody>
          <a:bodyPr wrap="square" lIns="0" tIns="0" rIns="0" bIns="0" rtlCol="0" anchor="ctr">
            <a:normAutofit/>
          </a:bodyPr>
          <a:lstStyle/>
          <a:p>
            <a:pPr marL="0" indent="0" algn="l">
              <a:buNone/>
            </a:pPr>
            <a:r>
              <a:rPr lang="en-US" sz="1250" b="1" dirty="0">
                <a:solidFill>
                  <a:srgbClr val="111B2E"/>
                </a:solidFill>
                <a:latin typeface="Aptos" pitchFamily="34" charset="0"/>
                <a:ea typeface="Aptos" pitchFamily="34" charset="-122"/>
                <a:cs typeface="Aptos" pitchFamily="34" charset="-120"/>
              </a:rPr>
              <a:t>PDF pages</a:t>
            </a:r>
            <a:endParaRPr lang="en-US" sz="1250" dirty="0"/>
          </a:p>
        </p:txBody>
      </p:sp>
      <p:sp>
        <p:nvSpPr>
          <p:cNvPr id="11" name="Shape 8"/>
          <p:cNvSpPr/>
          <p:nvPr/>
        </p:nvSpPr>
        <p:spPr>
          <a:xfrm>
            <a:off x="3456432" y="1783080"/>
            <a:ext cx="2487168" cy="1207008"/>
          </a:xfrm>
          <a:prstGeom prst="roundRect">
            <a:avLst>
              <a:gd name="adj" fmla="val 9091"/>
            </a:avLst>
          </a:prstGeom>
          <a:solidFill>
            <a:srgbClr val="E9F8F6"/>
          </a:solidFill>
          <a:ln w="12700">
            <a:solidFill>
              <a:srgbClr val="E9F8F6"/>
            </a:solidFill>
            <a:prstDash val="solid"/>
          </a:ln>
        </p:spPr>
      </p:sp>
      <p:sp>
        <p:nvSpPr>
          <p:cNvPr id="12" name="Text 9"/>
          <p:cNvSpPr txBox="1"/>
          <p:nvPr/>
        </p:nvSpPr>
        <p:spPr>
          <a:xfrm>
            <a:off x="3621024" y="1920240"/>
            <a:ext cx="777240" cy="475488"/>
          </a:xfrm>
          <a:prstGeom prst="rect">
            <a:avLst/>
          </a:prstGeom>
          <a:noFill/>
          <a:ln/>
        </p:spPr>
        <p:txBody>
          <a:bodyPr wrap="square" lIns="0" tIns="0" rIns="0" bIns="0" rtlCol="0" anchor="ctr">
            <a:normAutofit/>
          </a:bodyPr>
          <a:lstStyle/>
          <a:p>
            <a:pPr marL="0" indent="0" algn="l">
              <a:buNone/>
            </a:pPr>
            <a:r>
              <a:rPr lang="en-US" sz="3000" b="1" dirty="0">
                <a:solidFill>
                  <a:srgbClr val="0FA99F"/>
                </a:solidFill>
                <a:latin typeface="Aptos" pitchFamily="34" charset="0"/>
                <a:ea typeface="Aptos" pitchFamily="34" charset="-122"/>
                <a:cs typeface="Aptos" pitchFamily="34" charset="-120"/>
              </a:rPr>
              <a:t>20</a:t>
            </a:r>
            <a:endParaRPr lang="en-US" sz="3000" dirty="0"/>
          </a:p>
        </p:txBody>
      </p:sp>
      <p:sp>
        <p:nvSpPr>
          <p:cNvPr id="13" name="Text 10"/>
          <p:cNvSpPr txBox="1"/>
          <p:nvPr/>
        </p:nvSpPr>
        <p:spPr>
          <a:xfrm>
            <a:off x="4370832" y="1975104"/>
            <a:ext cx="1389888" cy="420624"/>
          </a:xfrm>
          <a:prstGeom prst="rect">
            <a:avLst/>
          </a:prstGeom>
          <a:noFill/>
          <a:ln/>
        </p:spPr>
        <p:txBody>
          <a:bodyPr wrap="square" lIns="0" tIns="0" rIns="0" bIns="0" rtlCol="0" anchor="ctr">
            <a:normAutofit/>
          </a:bodyPr>
          <a:lstStyle/>
          <a:p>
            <a:pPr marL="0" indent="0" algn="l">
              <a:buNone/>
            </a:pPr>
            <a:r>
              <a:rPr lang="en-US" sz="1250" b="1" dirty="0">
                <a:solidFill>
                  <a:srgbClr val="111B2E"/>
                </a:solidFill>
                <a:latin typeface="Aptos" pitchFamily="34" charset="0"/>
                <a:ea typeface="Aptos" pitchFamily="34" charset="-122"/>
                <a:cs typeface="Aptos" pitchFamily="34" charset="-120"/>
              </a:rPr>
              <a:t>non-empty page units</a:t>
            </a:r>
            <a:endParaRPr lang="en-US" sz="1250" dirty="0"/>
          </a:p>
        </p:txBody>
      </p:sp>
      <p:sp>
        <p:nvSpPr>
          <p:cNvPr id="14" name="Shape 11"/>
          <p:cNvSpPr/>
          <p:nvPr/>
        </p:nvSpPr>
        <p:spPr>
          <a:xfrm>
            <a:off x="6199632" y="1783080"/>
            <a:ext cx="2487168" cy="1207008"/>
          </a:xfrm>
          <a:prstGeom prst="roundRect">
            <a:avLst>
              <a:gd name="adj" fmla="val 9091"/>
            </a:avLst>
          </a:prstGeom>
          <a:solidFill>
            <a:srgbClr val="FFF7E5"/>
          </a:solidFill>
          <a:ln w="12700">
            <a:solidFill>
              <a:srgbClr val="FFF7E5"/>
            </a:solidFill>
            <a:prstDash val="solid"/>
          </a:ln>
        </p:spPr>
      </p:sp>
      <p:sp>
        <p:nvSpPr>
          <p:cNvPr id="15" name="Text 12"/>
          <p:cNvSpPr txBox="1"/>
          <p:nvPr/>
        </p:nvSpPr>
        <p:spPr>
          <a:xfrm>
            <a:off x="6364224" y="1920240"/>
            <a:ext cx="777240" cy="475488"/>
          </a:xfrm>
          <a:prstGeom prst="rect">
            <a:avLst/>
          </a:prstGeom>
          <a:noFill/>
          <a:ln/>
        </p:spPr>
        <p:txBody>
          <a:bodyPr wrap="square" lIns="0" tIns="0" rIns="0" bIns="0" rtlCol="0" anchor="ctr">
            <a:normAutofit/>
          </a:bodyPr>
          <a:lstStyle/>
          <a:p>
            <a:pPr marL="0" indent="0" algn="l">
              <a:buNone/>
            </a:pPr>
            <a:r>
              <a:rPr lang="en-US" sz="3000" b="1" dirty="0">
                <a:solidFill>
                  <a:srgbClr val="E9AE3C"/>
                </a:solidFill>
                <a:latin typeface="Aptos" pitchFamily="34" charset="0"/>
                <a:ea typeface="Aptos" pitchFamily="34" charset="-122"/>
                <a:cs typeface="Aptos" pitchFamily="34" charset="-120"/>
              </a:rPr>
              <a:t>22</a:t>
            </a:r>
            <a:endParaRPr lang="en-US" sz="3000" dirty="0"/>
          </a:p>
        </p:txBody>
      </p:sp>
      <p:sp>
        <p:nvSpPr>
          <p:cNvPr id="16" name="Text 13"/>
          <p:cNvSpPr txBox="1"/>
          <p:nvPr/>
        </p:nvSpPr>
        <p:spPr>
          <a:xfrm>
            <a:off x="7114032" y="1975104"/>
            <a:ext cx="1389888" cy="420624"/>
          </a:xfrm>
          <a:prstGeom prst="rect">
            <a:avLst/>
          </a:prstGeom>
          <a:noFill/>
          <a:ln/>
        </p:spPr>
        <p:txBody>
          <a:bodyPr wrap="square" lIns="0" tIns="0" rIns="0" bIns="0" rtlCol="0" anchor="ctr">
            <a:normAutofit/>
          </a:bodyPr>
          <a:lstStyle/>
          <a:p>
            <a:pPr marL="0" indent="0" algn="l">
              <a:buNone/>
            </a:pPr>
            <a:r>
              <a:rPr lang="en-US" sz="1250" b="1" dirty="0">
                <a:solidFill>
                  <a:srgbClr val="111B2E"/>
                </a:solidFill>
                <a:latin typeface="Aptos" pitchFamily="34" charset="0"/>
                <a:ea typeface="Aptos" pitchFamily="34" charset="-122"/>
                <a:cs typeface="Aptos" pitchFamily="34" charset="-120"/>
              </a:rPr>
              <a:t>benchmark questions</a:t>
            </a:r>
            <a:endParaRPr lang="en-US" sz="1250" dirty="0"/>
          </a:p>
        </p:txBody>
      </p:sp>
      <p:sp>
        <p:nvSpPr>
          <p:cNvPr id="17" name="Shape 14"/>
          <p:cNvSpPr/>
          <p:nvPr/>
        </p:nvSpPr>
        <p:spPr>
          <a:xfrm>
            <a:off x="8942832" y="1783080"/>
            <a:ext cx="2487168" cy="1207008"/>
          </a:xfrm>
          <a:prstGeom prst="roundRect">
            <a:avLst>
              <a:gd name="adj" fmla="val 9091"/>
            </a:avLst>
          </a:prstGeom>
          <a:solidFill>
            <a:srgbClr val="FFF0EE"/>
          </a:solidFill>
          <a:ln w="12700">
            <a:solidFill>
              <a:srgbClr val="FFF0EE"/>
            </a:solidFill>
            <a:prstDash val="solid"/>
          </a:ln>
        </p:spPr>
      </p:sp>
      <p:sp>
        <p:nvSpPr>
          <p:cNvPr id="18" name="Text 15"/>
          <p:cNvSpPr txBox="1"/>
          <p:nvPr/>
        </p:nvSpPr>
        <p:spPr>
          <a:xfrm>
            <a:off x="9107424" y="1920240"/>
            <a:ext cx="777240" cy="475488"/>
          </a:xfrm>
          <a:prstGeom prst="rect">
            <a:avLst/>
          </a:prstGeom>
          <a:noFill/>
          <a:ln/>
        </p:spPr>
        <p:txBody>
          <a:bodyPr wrap="square" lIns="0" tIns="0" rIns="0" bIns="0" rtlCol="0" anchor="ctr">
            <a:normAutofit/>
          </a:bodyPr>
          <a:lstStyle/>
          <a:p>
            <a:pPr marL="0" indent="0" algn="l">
              <a:buNone/>
            </a:pPr>
            <a:r>
              <a:rPr lang="en-US" sz="3000" b="1" dirty="0">
                <a:solidFill>
                  <a:srgbClr val="F16B61"/>
                </a:solidFill>
                <a:latin typeface="Aptos" pitchFamily="34" charset="0"/>
                <a:ea typeface="Aptos" pitchFamily="34" charset="-122"/>
                <a:cs typeface="Aptos" pitchFamily="34" charset="-120"/>
              </a:rPr>
              <a:t>1</a:t>
            </a:r>
            <a:endParaRPr lang="en-US" sz="3000" dirty="0"/>
          </a:p>
        </p:txBody>
      </p:sp>
      <p:sp>
        <p:nvSpPr>
          <p:cNvPr id="19" name="Text 16"/>
          <p:cNvSpPr txBox="1"/>
          <p:nvPr/>
        </p:nvSpPr>
        <p:spPr>
          <a:xfrm>
            <a:off x="9857232" y="1975104"/>
            <a:ext cx="1389888" cy="420624"/>
          </a:xfrm>
          <a:prstGeom prst="rect">
            <a:avLst/>
          </a:prstGeom>
          <a:noFill/>
          <a:ln/>
        </p:spPr>
        <p:txBody>
          <a:bodyPr wrap="square" lIns="0" tIns="0" rIns="0" bIns="0" rtlCol="0" anchor="ctr">
            <a:normAutofit/>
          </a:bodyPr>
          <a:lstStyle/>
          <a:p>
            <a:pPr marL="0" indent="0" algn="l">
              <a:buNone/>
            </a:pPr>
            <a:r>
              <a:rPr lang="en-US" sz="1250" b="1" dirty="0">
                <a:solidFill>
                  <a:srgbClr val="111B2E"/>
                </a:solidFill>
                <a:latin typeface="Aptos" pitchFamily="34" charset="0"/>
                <a:ea typeface="Aptos" pitchFamily="34" charset="-122"/>
                <a:cs typeface="Aptos" pitchFamily="34" charset="-120"/>
              </a:rPr>
              <a:t>unanswerable question</a:t>
            </a:r>
            <a:endParaRPr lang="en-US" sz="1250" dirty="0"/>
          </a:p>
        </p:txBody>
      </p:sp>
      <p:sp>
        <p:nvSpPr>
          <p:cNvPr id="20" name="Shape 17"/>
          <p:cNvSpPr/>
          <p:nvPr/>
        </p:nvSpPr>
        <p:spPr>
          <a:xfrm>
            <a:off x="749808" y="3401568"/>
            <a:ext cx="5074920" cy="1572768"/>
          </a:xfrm>
          <a:prstGeom prst="roundRect">
            <a:avLst>
              <a:gd name="adj" fmla="val 6977"/>
            </a:avLst>
          </a:prstGeom>
          <a:solidFill>
            <a:srgbClr val="FFFFFF"/>
          </a:solidFill>
          <a:ln w="6350">
            <a:solidFill>
              <a:srgbClr val="E1E6ED"/>
            </a:solidFill>
            <a:prstDash val="solid"/>
          </a:ln>
        </p:spPr>
      </p:sp>
      <p:sp>
        <p:nvSpPr>
          <p:cNvPr id="21" name="Shape 18"/>
          <p:cNvSpPr/>
          <p:nvPr/>
        </p:nvSpPr>
        <p:spPr>
          <a:xfrm>
            <a:off x="749808" y="3401568"/>
            <a:ext cx="64008" cy="1572768"/>
          </a:xfrm>
          <a:prstGeom prst="rect">
            <a:avLst/>
          </a:prstGeom>
          <a:solidFill>
            <a:srgbClr val="4E6BFF"/>
          </a:solidFill>
          <a:ln w="12700">
            <a:solidFill>
              <a:srgbClr val="4E6BFF">
                <a:alpha val="0"/>
              </a:srgbClr>
            </a:solidFill>
            <a:prstDash val="solid"/>
          </a:ln>
        </p:spPr>
      </p:sp>
      <p:sp>
        <p:nvSpPr>
          <p:cNvPr id="22" name="Text 19"/>
          <p:cNvSpPr txBox="1"/>
          <p:nvPr/>
        </p:nvSpPr>
        <p:spPr>
          <a:xfrm>
            <a:off x="950976" y="3566160"/>
            <a:ext cx="4709160"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Topics covered</a:t>
            </a:r>
            <a:endParaRPr lang="en-US" sz="1600" dirty="0"/>
          </a:p>
        </p:txBody>
      </p:sp>
      <p:sp>
        <p:nvSpPr>
          <p:cNvPr id="23" name="Text 20"/>
          <p:cNvSpPr txBox="1"/>
          <p:nvPr/>
        </p:nvSpPr>
        <p:spPr>
          <a:xfrm>
            <a:off x="969264" y="3931920"/>
            <a:ext cx="4672584" cy="950976"/>
          </a:xfrm>
          <a:prstGeom prst="rect">
            <a:avLst/>
          </a:prstGeom>
          <a:noFill/>
          <a:ln/>
        </p:spPr>
        <p:txBody>
          <a:bodyPr wrap="square" lIns="0" tIns="0" rIns="0" bIns="0" rtlCol="0" anchor="t">
            <a:normAutofit/>
          </a:bodyPr>
          <a:lstStyle/>
          <a:p>
            <a:pPr marL="0" indent="0" algn="l">
              <a:buNone/>
            </a:pPr>
            <a:r>
              <a:rPr lang="en-US" sz="1300" dirty="0">
                <a:solidFill>
                  <a:srgbClr val="5E6A7C"/>
                </a:solidFill>
                <a:latin typeface="Aptos" pitchFamily="34" charset="0"/>
                <a:ea typeface="Aptos" pitchFamily="34" charset="-122"/>
                <a:cs typeface="Aptos" pitchFamily="34" charset="-120"/>
              </a:rPr>
              <a:t>Hostel conduct • visitor permissions • ragging • mess dues • academic contacts • library hours • phone extensions • prohibited appliances</a:t>
            </a:r>
            <a:endParaRPr lang="en-US" sz="1300" dirty="0"/>
          </a:p>
        </p:txBody>
      </p:sp>
      <p:sp>
        <p:nvSpPr>
          <p:cNvPr id="24" name="Shape 21"/>
          <p:cNvSpPr/>
          <p:nvPr/>
        </p:nvSpPr>
        <p:spPr>
          <a:xfrm>
            <a:off x="6144768" y="3401568"/>
            <a:ext cx="5074920" cy="1572768"/>
          </a:xfrm>
          <a:prstGeom prst="roundRect">
            <a:avLst>
              <a:gd name="adj" fmla="val 6977"/>
            </a:avLst>
          </a:prstGeom>
          <a:solidFill>
            <a:srgbClr val="FFFFFF"/>
          </a:solidFill>
          <a:ln w="6350">
            <a:solidFill>
              <a:srgbClr val="E1E6ED"/>
            </a:solidFill>
            <a:prstDash val="solid"/>
          </a:ln>
        </p:spPr>
      </p:sp>
      <p:sp>
        <p:nvSpPr>
          <p:cNvPr id="25" name="Shape 22"/>
          <p:cNvSpPr/>
          <p:nvPr/>
        </p:nvSpPr>
        <p:spPr>
          <a:xfrm>
            <a:off x="6144768" y="3401568"/>
            <a:ext cx="64008" cy="1572768"/>
          </a:xfrm>
          <a:prstGeom prst="rect">
            <a:avLst/>
          </a:prstGeom>
          <a:solidFill>
            <a:srgbClr val="0FA99F"/>
          </a:solidFill>
          <a:ln w="12700">
            <a:solidFill>
              <a:srgbClr val="0FA99F">
                <a:alpha val="0"/>
              </a:srgbClr>
            </a:solidFill>
            <a:prstDash val="solid"/>
          </a:ln>
        </p:spPr>
      </p:sp>
      <p:sp>
        <p:nvSpPr>
          <p:cNvPr id="26" name="Text 23"/>
          <p:cNvSpPr txBox="1"/>
          <p:nvPr/>
        </p:nvSpPr>
        <p:spPr>
          <a:xfrm>
            <a:off x="6345936" y="3566160"/>
            <a:ext cx="4709160"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Page-labelled evaluation</a:t>
            </a:r>
            <a:endParaRPr lang="en-US" sz="1600" dirty="0"/>
          </a:p>
        </p:txBody>
      </p:sp>
      <p:sp>
        <p:nvSpPr>
          <p:cNvPr id="27" name="Text 24"/>
          <p:cNvSpPr txBox="1"/>
          <p:nvPr/>
        </p:nvSpPr>
        <p:spPr>
          <a:xfrm>
            <a:off x="6364224" y="3931920"/>
            <a:ext cx="4672584" cy="950976"/>
          </a:xfrm>
          <a:prstGeom prst="rect">
            <a:avLst/>
          </a:prstGeom>
          <a:noFill/>
          <a:ln/>
        </p:spPr>
        <p:txBody>
          <a:bodyPr wrap="square" lIns="0" tIns="0" rIns="0" bIns="0" rtlCol="0" anchor="t">
            <a:normAutofit/>
          </a:bodyPr>
          <a:lstStyle/>
          <a:p>
            <a:pPr marL="0" indent="0" algn="l">
              <a:buNone/>
            </a:pPr>
            <a:r>
              <a:rPr lang="en-US" sz="1300" dirty="0">
                <a:solidFill>
                  <a:srgbClr val="5E6A7C"/>
                </a:solidFill>
                <a:latin typeface="Aptos" pitchFamily="34" charset="0"/>
                <a:ea typeface="Aptos" pitchFamily="34" charset="-122"/>
                <a:cs typeface="Aptos" pitchFamily="34" charset="-120"/>
              </a:rPr>
              <a:t>Each question has expected answer text and expected PDF page number(s). Top-3 results are checked against those references.</a:t>
            </a:r>
            <a:endParaRPr lang="en-US" sz="1300" dirty="0"/>
          </a:p>
        </p:txBody>
      </p:sp>
      <p:sp>
        <p:nvSpPr>
          <p:cNvPr id="28" name="Text 25"/>
          <p:cNvSpPr txBox="1"/>
          <p:nvPr/>
        </p:nvSpPr>
        <p:spPr>
          <a:xfrm>
            <a:off x="786384" y="5413248"/>
            <a:ext cx="10424160" cy="237744"/>
          </a:xfrm>
          <a:prstGeom prst="rect">
            <a:avLst/>
          </a:prstGeom>
          <a:noFill/>
          <a:ln/>
        </p:spPr>
        <p:txBody>
          <a:bodyPr wrap="square" lIns="0" tIns="0" rIns="0" bIns="0" rtlCol="0" anchor="ctr">
            <a:normAutofit/>
          </a:bodyPr>
          <a:lstStyle/>
          <a:p>
            <a:pPr marL="0" indent="0" algn="l">
              <a:buNone/>
            </a:pPr>
            <a:r>
              <a:rPr lang="en-US" sz="1050" i="1" dirty="0">
                <a:solidFill>
                  <a:srgbClr val="7F8A9A"/>
                </a:solidFill>
                <a:latin typeface="Aptos" pitchFamily="34" charset="0"/>
                <a:ea typeface="Aptos" pitchFamily="34" charset="-122"/>
                <a:cs typeface="Aptos" pitchFamily="34" charset="-120"/>
              </a:rPr>
              <a:t>Data source: BIT Students’ Rules and Regulations, Birla Institute of Technology, Mesra.</a:t>
            </a:r>
            <a:endParaRPr lang="en-US" sz="105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05 • METHODOLOGY</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The RAG pipeline in one picture</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RAG = Retrieval-Augmented Generation: find evidence first, then generate an answer from that evidence.</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314554"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640080" y="2048256"/>
            <a:ext cx="1600200" cy="1508760"/>
          </a:xfrm>
          <a:prstGeom prst="roundRect">
            <a:avLst>
              <a:gd name="adj" fmla="val 7273"/>
            </a:avLst>
          </a:prstGeom>
          <a:solidFill>
            <a:srgbClr val="E9F8F6"/>
          </a:solidFill>
          <a:ln w="12700">
            <a:solidFill>
              <a:srgbClr val="E1E6ED"/>
            </a:solidFill>
            <a:prstDash val="solid"/>
          </a:ln>
        </p:spPr>
      </p:sp>
      <p:sp>
        <p:nvSpPr>
          <p:cNvPr id="9" name="Shape 6"/>
          <p:cNvSpPr/>
          <p:nvPr/>
        </p:nvSpPr>
        <p:spPr>
          <a:xfrm>
            <a:off x="786384" y="2212848"/>
            <a:ext cx="365760" cy="365760"/>
          </a:xfrm>
          <a:prstGeom prst="ellipse">
            <a:avLst/>
          </a:prstGeom>
          <a:solidFill>
            <a:srgbClr val="0FA99F"/>
          </a:solidFill>
          <a:ln w="12700">
            <a:solidFill>
              <a:srgbClr val="0FA99F">
                <a:alpha val="0"/>
              </a:srgbClr>
            </a:solidFill>
            <a:prstDash val="solid"/>
          </a:ln>
        </p:spPr>
      </p:sp>
      <p:sp>
        <p:nvSpPr>
          <p:cNvPr id="10" name="Text 7"/>
          <p:cNvSpPr txBox="1"/>
          <p:nvPr/>
        </p:nvSpPr>
        <p:spPr>
          <a:xfrm>
            <a:off x="786384" y="2212848"/>
            <a:ext cx="365760" cy="36576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795528" y="2743200"/>
            <a:ext cx="1289304" cy="292608"/>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Question</a:t>
            </a:r>
            <a:endParaRPr lang="en-US" sz="1700" dirty="0"/>
          </a:p>
        </p:txBody>
      </p:sp>
      <p:sp>
        <p:nvSpPr>
          <p:cNvPr id="12" name="Text 9"/>
          <p:cNvSpPr txBox="1"/>
          <p:nvPr/>
        </p:nvSpPr>
        <p:spPr>
          <a:xfrm>
            <a:off x="795528" y="3127248"/>
            <a:ext cx="1289304"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User asks</a:t>
            </a:r>
            <a:endParaRPr lang="en-US" sz="1150" dirty="0"/>
          </a:p>
        </p:txBody>
      </p:sp>
      <p:sp>
        <p:nvSpPr>
          <p:cNvPr id="13" name="Shape 10"/>
          <p:cNvSpPr/>
          <p:nvPr/>
        </p:nvSpPr>
        <p:spPr>
          <a:xfrm>
            <a:off x="2286000" y="2743200"/>
            <a:ext cx="146304" cy="0"/>
          </a:xfrm>
          <a:prstGeom prst="line">
            <a:avLst/>
          </a:prstGeom>
          <a:noFill/>
          <a:ln w="22860">
            <a:solidFill>
              <a:srgbClr val="7F8A9A"/>
            </a:solidFill>
            <a:prstDash val="solid"/>
          </a:ln>
        </p:spPr>
      </p:sp>
      <p:sp>
        <p:nvSpPr>
          <p:cNvPr id="14" name="Shape 11"/>
          <p:cNvSpPr/>
          <p:nvPr/>
        </p:nvSpPr>
        <p:spPr>
          <a:xfrm>
            <a:off x="2350008" y="2670048"/>
            <a:ext cx="146304" cy="146304"/>
          </a:xfrm>
          <a:prstGeom prst="chevron">
            <a:avLst/>
          </a:prstGeom>
          <a:solidFill>
            <a:srgbClr val="7F8A9A"/>
          </a:solidFill>
          <a:ln w="12700">
            <a:solidFill>
              <a:srgbClr val="7F8A9A">
                <a:alpha val="0"/>
              </a:srgbClr>
            </a:solidFill>
            <a:prstDash val="solid"/>
          </a:ln>
        </p:spPr>
      </p:sp>
      <p:sp>
        <p:nvSpPr>
          <p:cNvPr id="15" name="Shape 12"/>
          <p:cNvSpPr/>
          <p:nvPr/>
        </p:nvSpPr>
        <p:spPr>
          <a:xfrm>
            <a:off x="2505456" y="2048256"/>
            <a:ext cx="1920240" cy="1508760"/>
          </a:xfrm>
          <a:prstGeom prst="roundRect">
            <a:avLst>
              <a:gd name="adj" fmla="val 7273"/>
            </a:avLst>
          </a:prstGeom>
          <a:solidFill>
            <a:srgbClr val="EEF1FF"/>
          </a:solidFill>
          <a:ln w="12700">
            <a:solidFill>
              <a:srgbClr val="E1E6ED"/>
            </a:solidFill>
            <a:prstDash val="solid"/>
          </a:ln>
        </p:spPr>
      </p:sp>
      <p:sp>
        <p:nvSpPr>
          <p:cNvPr id="16" name="Shape 13"/>
          <p:cNvSpPr/>
          <p:nvPr/>
        </p:nvSpPr>
        <p:spPr>
          <a:xfrm>
            <a:off x="2651760" y="2212848"/>
            <a:ext cx="365760" cy="365760"/>
          </a:xfrm>
          <a:prstGeom prst="ellipse">
            <a:avLst/>
          </a:prstGeom>
          <a:solidFill>
            <a:srgbClr val="4E6BFF"/>
          </a:solidFill>
          <a:ln w="12700">
            <a:solidFill>
              <a:srgbClr val="4E6BFF">
                <a:alpha val="0"/>
              </a:srgbClr>
            </a:solidFill>
            <a:prstDash val="solid"/>
          </a:ln>
        </p:spPr>
      </p:sp>
      <p:sp>
        <p:nvSpPr>
          <p:cNvPr id="17" name="Text 14"/>
          <p:cNvSpPr txBox="1"/>
          <p:nvPr/>
        </p:nvSpPr>
        <p:spPr>
          <a:xfrm>
            <a:off x="2651760" y="2212848"/>
            <a:ext cx="365760" cy="36576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5"/>
          <p:cNvSpPr txBox="1"/>
          <p:nvPr/>
        </p:nvSpPr>
        <p:spPr>
          <a:xfrm>
            <a:off x="2660904" y="2743200"/>
            <a:ext cx="1609344" cy="292608"/>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Retriever</a:t>
            </a:r>
            <a:endParaRPr lang="en-US" sz="1700" dirty="0"/>
          </a:p>
        </p:txBody>
      </p:sp>
      <p:sp>
        <p:nvSpPr>
          <p:cNvPr id="19" name="Text 16"/>
          <p:cNvSpPr txBox="1"/>
          <p:nvPr/>
        </p:nvSpPr>
        <p:spPr>
          <a:xfrm>
            <a:off x="2660904" y="3127248"/>
            <a:ext cx="1609344"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Top 3 pages</a:t>
            </a:r>
            <a:endParaRPr lang="en-US" sz="1150" dirty="0"/>
          </a:p>
        </p:txBody>
      </p:sp>
      <p:sp>
        <p:nvSpPr>
          <p:cNvPr id="20" name="Shape 17"/>
          <p:cNvSpPr/>
          <p:nvPr/>
        </p:nvSpPr>
        <p:spPr>
          <a:xfrm>
            <a:off x="4471416" y="2743200"/>
            <a:ext cx="173736" cy="0"/>
          </a:xfrm>
          <a:prstGeom prst="line">
            <a:avLst/>
          </a:prstGeom>
          <a:noFill/>
          <a:ln w="22860">
            <a:solidFill>
              <a:srgbClr val="7F8A9A"/>
            </a:solidFill>
            <a:prstDash val="solid"/>
          </a:ln>
        </p:spPr>
      </p:sp>
      <p:sp>
        <p:nvSpPr>
          <p:cNvPr id="21" name="Shape 18"/>
          <p:cNvSpPr/>
          <p:nvPr/>
        </p:nvSpPr>
        <p:spPr>
          <a:xfrm>
            <a:off x="4562856" y="2670048"/>
            <a:ext cx="146304" cy="146304"/>
          </a:xfrm>
          <a:prstGeom prst="chevron">
            <a:avLst/>
          </a:prstGeom>
          <a:solidFill>
            <a:srgbClr val="7F8A9A"/>
          </a:solidFill>
          <a:ln w="12700">
            <a:solidFill>
              <a:srgbClr val="7F8A9A">
                <a:alpha val="0"/>
              </a:srgbClr>
            </a:solidFill>
            <a:prstDash val="solid"/>
          </a:ln>
        </p:spPr>
      </p:sp>
      <p:sp>
        <p:nvSpPr>
          <p:cNvPr id="22" name="Shape 19"/>
          <p:cNvSpPr/>
          <p:nvPr/>
        </p:nvSpPr>
        <p:spPr>
          <a:xfrm>
            <a:off x="4718304" y="2048256"/>
            <a:ext cx="1938528" cy="1508760"/>
          </a:xfrm>
          <a:prstGeom prst="roundRect">
            <a:avLst>
              <a:gd name="adj" fmla="val 7273"/>
            </a:avLst>
          </a:prstGeom>
          <a:solidFill>
            <a:srgbClr val="FFF7E5"/>
          </a:solidFill>
          <a:ln w="12700">
            <a:solidFill>
              <a:srgbClr val="E1E6ED"/>
            </a:solidFill>
            <a:prstDash val="solid"/>
          </a:ln>
        </p:spPr>
      </p:sp>
      <p:sp>
        <p:nvSpPr>
          <p:cNvPr id="23" name="Shape 20"/>
          <p:cNvSpPr/>
          <p:nvPr/>
        </p:nvSpPr>
        <p:spPr>
          <a:xfrm>
            <a:off x="4864608" y="2212848"/>
            <a:ext cx="365760" cy="365760"/>
          </a:xfrm>
          <a:prstGeom prst="ellipse">
            <a:avLst/>
          </a:prstGeom>
          <a:solidFill>
            <a:srgbClr val="E9AE3C"/>
          </a:solidFill>
          <a:ln w="12700">
            <a:solidFill>
              <a:srgbClr val="E9AE3C">
                <a:alpha val="0"/>
              </a:srgbClr>
            </a:solidFill>
            <a:prstDash val="solid"/>
          </a:ln>
        </p:spPr>
      </p:sp>
      <p:sp>
        <p:nvSpPr>
          <p:cNvPr id="24" name="Text 21"/>
          <p:cNvSpPr txBox="1"/>
          <p:nvPr/>
        </p:nvSpPr>
        <p:spPr>
          <a:xfrm>
            <a:off x="4864608" y="2212848"/>
            <a:ext cx="365760" cy="36576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5" name="Text 22"/>
          <p:cNvSpPr txBox="1"/>
          <p:nvPr/>
        </p:nvSpPr>
        <p:spPr>
          <a:xfrm>
            <a:off x="4873752" y="2743200"/>
            <a:ext cx="1627632" cy="292608"/>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Context</a:t>
            </a:r>
            <a:endParaRPr lang="en-US" sz="1700" dirty="0"/>
          </a:p>
        </p:txBody>
      </p:sp>
      <p:sp>
        <p:nvSpPr>
          <p:cNvPr id="26" name="Text 23"/>
          <p:cNvSpPr txBox="1"/>
          <p:nvPr/>
        </p:nvSpPr>
        <p:spPr>
          <a:xfrm>
            <a:off x="4873752" y="3127248"/>
            <a:ext cx="1627632"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Page excerpts</a:t>
            </a:r>
            <a:endParaRPr lang="en-US" sz="1150" dirty="0"/>
          </a:p>
        </p:txBody>
      </p:sp>
      <p:sp>
        <p:nvSpPr>
          <p:cNvPr id="27" name="Shape 24"/>
          <p:cNvSpPr/>
          <p:nvPr/>
        </p:nvSpPr>
        <p:spPr>
          <a:xfrm>
            <a:off x="6702552" y="2743200"/>
            <a:ext cx="173736" cy="0"/>
          </a:xfrm>
          <a:prstGeom prst="line">
            <a:avLst/>
          </a:prstGeom>
          <a:noFill/>
          <a:ln w="22860">
            <a:solidFill>
              <a:srgbClr val="7F8A9A"/>
            </a:solidFill>
            <a:prstDash val="solid"/>
          </a:ln>
        </p:spPr>
      </p:sp>
      <p:sp>
        <p:nvSpPr>
          <p:cNvPr id="28" name="Shape 25"/>
          <p:cNvSpPr/>
          <p:nvPr/>
        </p:nvSpPr>
        <p:spPr>
          <a:xfrm>
            <a:off x="6793992" y="2670048"/>
            <a:ext cx="146304" cy="146304"/>
          </a:xfrm>
          <a:prstGeom prst="chevron">
            <a:avLst/>
          </a:prstGeom>
          <a:solidFill>
            <a:srgbClr val="7F8A9A"/>
          </a:solidFill>
          <a:ln w="12700">
            <a:solidFill>
              <a:srgbClr val="7F8A9A">
                <a:alpha val="0"/>
              </a:srgbClr>
            </a:solidFill>
            <a:prstDash val="solid"/>
          </a:ln>
        </p:spPr>
      </p:sp>
      <p:sp>
        <p:nvSpPr>
          <p:cNvPr id="29" name="Shape 26"/>
          <p:cNvSpPr/>
          <p:nvPr/>
        </p:nvSpPr>
        <p:spPr>
          <a:xfrm>
            <a:off x="6949440" y="2048256"/>
            <a:ext cx="1920240" cy="1508760"/>
          </a:xfrm>
          <a:prstGeom prst="roundRect">
            <a:avLst>
              <a:gd name="adj" fmla="val 7273"/>
            </a:avLst>
          </a:prstGeom>
          <a:solidFill>
            <a:srgbClr val="FFF0EE"/>
          </a:solidFill>
          <a:ln w="12700">
            <a:solidFill>
              <a:srgbClr val="E1E6ED"/>
            </a:solidFill>
            <a:prstDash val="solid"/>
          </a:ln>
        </p:spPr>
      </p:sp>
      <p:sp>
        <p:nvSpPr>
          <p:cNvPr id="30" name="Shape 27"/>
          <p:cNvSpPr/>
          <p:nvPr/>
        </p:nvSpPr>
        <p:spPr>
          <a:xfrm>
            <a:off x="7095744" y="2212848"/>
            <a:ext cx="365760" cy="365760"/>
          </a:xfrm>
          <a:prstGeom prst="ellipse">
            <a:avLst/>
          </a:prstGeom>
          <a:solidFill>
            <a:srgbClr val="F16B61"/>
          </a:solidFill>
          <a:ln w="12700">
            <a:solidFill>
              <a:srgbClr val="F16B61">
                <a:alpha val="0"/>
              </a:srgbClr>
            </a:solidFill>
            <a:prstDash val="solid"/>
          </a:ln>
        </p:spPr>
      </p:sp>
      <p:sp>
        <p:nvSpPr>
          <p:cNvPr id="31" name="Text 28"/>
          <p:cNvSpPr txBox="1"/>
          <p:nvPr/>
        </p:nvSpPr>
        <p:spPr>
          <a:xfrm>
            <a:off x="7095744" y="2212848"/>
            <a:ext cx="365760" cy="36576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2" name="Text 29"/>
          <p:cNvSpPr txBox="1"/>
          <p:nvPr/>
        </p:nvSpPr>
        <p:spPr>
          <a:xfrm>
            <a:off x="7104888" y="2743200"/>
            <a:ext cx="1609344" cy="292608"/>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Same LLM</a:t>
            </a:r>
            <a:endParaRPr lang="en-US" sz="1700" dirty="0"/>
          </a:p>
        </p:txBody>
      </p:sp>
      <p:sp>
        <p:nvSpPr>
          <p:cNvPr id="33" name="Text 30"/>
          <p:cNvSpPr txBox="1"/>
          <p:nvPr/>
        </p:nvSpPr>
        <p:spPr>
          <a:xfrm>
            <a:off x="7104888" y="3127248"/>
            <a:ext cx="1609344"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Qwen2.5:3b</a:t>
            </a:r>
            <a:endParaRPr lang="en-US" sz="1150" dirty="0"/>
          </a:p>
        </p:txBody>
      </p:sp>
      <p:sp>
        <p:nvSpPr>
          <p:cNvPr id="34" name="Shape 31"/>
          <p:cNvSpPr/>
          <p:nvPr/>
        </p:nvSpPr>
        <p:spPr>
          <a:xfrm>
            <a:off x="8915400" y="2743200"/>
            <a:ext cx="192024" cy="0"/>
          </a:xfrm>
          <a:prstGeom prst="line">
            <a:avLst/>
          </a:prstGeom>
          <a:noFill/>
          <a:ln w="22860">
            <a:solidFill>
              <a:srgbClr val="7F8A9A"/>
            </a:solidFill>
            <a:prstDash val="solid"/>
          </a:ln>
        </p:spPr>
      </p:sp>
      <p:sp>
        <p:nvSpPr>
          <p:cNvPr id="35" name="Shape 32"/>
          <p:cNvSpPr/>
          <p:nvPr/>
        </p:nvSpPr>
        <p:spPr>
          <a:xfrm>
            <a:off x="9025128" y="2670048"/>
            <a:ext cx="146304" cy="146304"/>
          </a:xfrm>
          <a:prstGeom prst="chevron">
            <a:avLst/>
          </a:prstGeom>
          <a:solidFill>
            <a:srgbClr val="7F8A9A"/>
          </a:solidFill>
          <a:ln w="12700">
            <a:solidFill>
              <a:srgbClr val="7F8A9A">
                <a:alpha val="0"/>
              </a:srgbClr>
            </a:solidFill>
            <a:prstDash val="solid"/>
          </a:ln>
        </p:spPr>
      </p:sp>
      <p:sp>
        <p:nvSpPr>
          <p:cNvPr id="36" name="Shape 33"/>
          <p:cNvSpPr/>
          <p:nvPr/>
        </p:nvSpPr>
        <p:spPr>
          <a:xfrm>
            <a:off x="9180576" y="2048256"/>
            <a:ext cx="2286000" cy="1508760"/>
          </a:xfrm>
          <a:prstGeom prst="roundRect">
            <a:avLst>
              <a:gd name="adj" fmla="val 7273"/>
            </a:avLst>
          </a:prstGeom>
          <a:solidFill>
            <a:srgbClr val="E9F8F6"/>
          </a:solidFill>
          <a:ln w="12700">
            <a:solidFill>
              <a:srgbClr val="E1E6ED"/>
            </a:solidFill>
            <a:prstDash val="solid"/>
          </a:ln>
        </p:spPr>
      </p:sp>
      <p:sp>
        <p:nvSpPr>
          <p:cNvPr id="37" name="Shape 34"/>
          <p:cNvSpPr/>
          <p:nvPr/>
        </p:nvSpPr>
        <p:spPr>
          <a:xfrm>
            <a:off x="9326880" y="2212848"/>
            <a:ext cx="365760" cy="365760"/>
          </a:xfrm>
          <a:prstGeom prst="ellipse">
            <a:avLst/>
          </a:prstGeom>
          <a:solidFill>
            <a:srgbClr val="0FA99F"/>
          </a:solidFill>
          <a:ln w="12700">
            <a:solidFill>
              <a:srgbClr val="0FA99F">
                <a:alpha val="0"/>
              </a:srgbClr>
            </a:solidFill>
            <a:prstDash val="solid"/>
          </a:ln>
        </p:spPr>
      </p:sp>
      <p:sp>
        <p:nvSpPr>
          <p:cNvPr id="38" name="Text 35"/>
          <p:cNvSpPr txBox="1"/>
          <p:nvPr/>
        </p:nvSpPr>
        <p:spPr>
          <a:xfrm>
            <a:off x="9326880" y="2212848"/>
            <a:ext cx="365760" cy="36576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39" name="Text 36"/>
          <p:cNvSpPr txBox="1"/>
          <p:nvPr/>
        </p:nvSpPr>
        <p:spPr>
          <a:xfrm>
            <a:off x="9336024" y="2743200"/>
            <a:ext cx="1975104" cy="292608"/>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Evaluate</a:t>
            </a:r>
            <a:endParaRPr lang="en-US" sz="1700" dirty="0"/>
          </a:p>
        </p:txBody>
      </p:sp>
      <p:sp>
        <p:nvSpPr>
          <p:cNvPr id="40" name="Text 37"/>
          <p:cNvSpPr txBox="1"/>
          <p:nvPr/>
        </p:nvSpPr>
        <p:spPr>
          <a:xfrm>
            <a:off x="9336024" y="3127248"/>
            <a:ext cx="1975104"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Metrics + review</a:t>
            </a:r>
            <a:endParaRPr lang="en-US" sz="1150" dirty="0"/>
          </a:p>
        </p:txBody>
      </p:sp>
      <p:sp>
        <p:nvSpPr>
          <p:cNvPr id="41" name="Shape 38"/>
          <p:cNvSpPr/>
          <p:nvPr/>
        </p:nvSpPr>
        <p:spPr>
          <a:xfrm>
            <a:off x="749808" y="4187952"/>
            <a:ext cx="10561320" cy="868680"/>
          </a:xfrm>
          <a:prstGeom prst="roundRect">
            <a:avLst>
              <a:gd name="adj" fmla="val 12632"/>
            </a:avLst>
          </a:prstGeom>
          <a:solidFill>
            <a:srgbClr val="111B2E"/>
          </a:solidFill>
          <a:ln w="12700">
            <a:solidFill>
              <a:srgbClr val="111B2E"/>
            </a:solidFill>
            <a:prstDash val="solid"/>
          </a:ln>
        </p:spPr>
      </p:sp>
      <p:sp>
        <p:nvSpPr>
          <p:cNvPr id="42" name="Text 39"/>
          <p:cNvSpPr txBox="1"/>
          <p:nvPr/>
        </p:nvSpPr>
        <p:spPr>
          <a:xfrm>
            <a:off x="1005840" y="4425696"/>
            <a:ext cx="1508760" cy="219456"/>
          </a:xfrm>
          <a:prstGeom prst="rect">
            <a:avLst/>
          </a:prstGeom>
          <a:noFill/>
          <a:ln/>
        </p:spPr>
        <p:txBody>
          <a:bodyPr wrap="square" lIns="0" tIns="0" rIns="0" bIns="0" rtlCol="0" anchor="ctr">
            <a:normAutofit/>
          </a:bodyPr>
          <a:lstStyle/>
          <a:p>
            <a:pPr marL="0" indent="0" algn="l">
              <a:buNone/>
            </a:pPr>
            <a:r>
              <a:rPr lang="en-US" sz="1200" b="1" dirty="0">
                <a:solidFill>
                  <a:srgbClr val="7DE0D6"/>
                </a:solidFill>
                <a:latin typeface="Aptos" pitchFamily="34" charset="0"/>
                <a:ea typeface="Aptos" pitchFamily="34" charset="-122"/>
                <a:cs typeface="Aptos" pitchFamily="34" charset="-120"/>
              </a:rPr>
              <a:t>Fairness control</a:t>
            </a:r>
            <a:endParaRPr lang="en-US" sz="1200" dirty="0"/>
          </a:p>
        </p:txBody>
      </p:sp>
      <p:sp>
        <p:nvSpPr>
          <p:cNvPr id="43" name="Text 40"/>
          <p:cNvSpPr txBox="1"/>
          <p:nvPr/>
        </p:nvSpPr>
        <p:spPr>
          <a:xfrm>
            <a:off x="2523744" y="4343400"/>
            <a:ext cx="8183880" cy="365760"/>
          </a:xfrm>
          <a:prstGeom prst="rect">
            <a:avLst/>
          </a:prstGeom>
          <a:noFill/>
          <a:ln/>
        </p:spPr>
        <p:txBody>
          <a:bodyPr wrap="square" lIns="0" tIns="0" rIns="0" bIns="0" rtlCol="0" anchor="ctr">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The retriever changes; model, prompt and top-k remain constant.</a:t>
            </a:r>
            <a:endParaRPr lang="en-US" sz="180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06 • DATA PREPARATION</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Preprocessing keeps the page evidence traceable</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The unit of retrieval is one non-empty PDF page, not an arbitrary sentence or paragraph.</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366979"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49808" y="1728216"/>
            <a:ext cx="5760720" cy="3328416"/>
          </a:xfrm>
          <a:prstGeom prst="roundRect">
            <a:avLst>
              <a:gd name="adj" fmla="val 3297"/>
            </a:avLst>
          </a:prstGeom>
          <a:solidFill>
            <a:srgbClr val="172237"/>
          </a:solidFill>
          <a:ln w="12700">
            <a:solidFill>
              <a:srgbClr val="172237"/>
            </a:solidFill>
            <a:prstDash val="solid"/>
          </a:ln>
        </p:spPr>
      </p:sp>
      <p:sp>
        <p:nvSpPr>
          <p:cNvPr id="9" name="Shape 6"/>
          <p:cNvSpPr/>
          <p:nvPr/>
        </p:nvSpPr>
        <p:spPr>
          <a:xfrm>
            <a:off x="914400" y="1865376"/>
            <a:ext cx="82296" cy="82296"/>
          </a:xfrm>
          <a:prstGeom prst="ellipse">
            <a:avLst/>
          </a:prstGeom>
          <a:solidFill>
            <a:srgbClr val="F16B61"/>
          </a:solidFill>
          <a:ln w="12700">
            <a:solidFill>
              <a:srgbClr val="F16B61">
                <a:alpha val="0"/>
              </a:srgbClr>
            </a:solidFill>
            <a:prstDash val="solid"/>
          </a:ln>
        </p:spPr>
      </p:sp>
      <p:sp>
        <p:nvSpPr>
          <p:cNvPr id="10" name="Shape 7"/>
          <p:cNvSpPr/>
          <p:nvPr/>
        </p:nvSpPr>
        <p:spPr>
          <a:xfrm>
            <a:off x="1060704" y="1865376"/>
            <a:ext cx="82296" cy="82296"/>
          </a:xfrm>
          <a:prstGeom prst="ellipse">
            <a:avLst/>
          </a:prstGeom>
          <a:solidFill>
            <a:srgbClr val="E9AE3C"/>
          </a:solidFill>
          <a:ln w="12700">
            <a:solidFill>
              <a:srgbClr val="E9AE3C">
                <a:alpha val="0"/>
              </a:srgbClr>
            </a:solidFill>
            <a:prstDash val="solid"/>
          </a:ln>
        </p:spPr>
      </p:sp>
      <p:sp>
        <p:nvSpPr>
          <p:cNvPr id="11" name="Shape 8"/>
          <p:cNvSpPr/>
          <p:nvPr/>
        </p:nvSpPr>
        <p:spPr>
          <a:xfrm>
            <a:off x="1207008" y="1865376"/>
            <a:ext cx="82296" cy="82296"/>
          </a:xfrm>
          <a:prstGeom prst="ellipse">
            <a:avLst/>
          </a:prstGeom>
          <a:solidFill>
            <a:srgbClr val="0FA99F"/>
          </a:solidFill>
          <a:ln w="12700">
            <a:solidFill>
              <a:srgbClr val="0FA99F">
                <a:alpha val="0"/>
              </a:srgbClr>
            </a:solidFill>
            <a:prstDash val="solid"/>
          </a:ln>
        </p:spPr>
      </p:sp>
      <p:sp>
        <p:nvSpPr>
          <p:cNvPr id="12" name="Text 9"/>
          <p:cNvSpPr txBox="1"/>
          <p:nvPr/>
        </p:nvSpPr>
        <p:spPr>
          <a:xfrm>
            <a:off x="932688" y="2112264"/>
            <a:ext cx="5413248" cy="2852928"/>
          </a:xfrm>
          <a:prstGeom prst="rect">
            <a:avLst/>
          </a:prstGeom>
          <a:noFill/>
          <a:ln/>
        </p:spPr>
        <p:txBody>
          <a:bodyPr wrap="square" lIns="0" tIns="0" rIns="0" bIns="0" rtlCol="0" anchor="t">
            <a:normAutofit/>
          </a:bodyPr>
          <a:lstStyle/>
          <a:p>
            <a:pPr marL="0" indent="0" algn="l">
              <a:buNone/>
            </a:pPr>
            <a:r>
              <a:rPr lang="en-US" sz="1110" dirty="0">
                <a:solidFill>
                  <a:srgbClr val="EAF0F8"/>
                </a:solidFill>
                <a:latin typeface="Consolas" pitchFamily="34" charset="0"/>
                <a:ea typeface="Consolas" pitchFamily="34" charset="-122"/>
                <a:cs typeface="Consolas" pitchFamily="34" charset="-120"/>
              </a:rPr>
              <a:t>PAGE_MARKER = re.compile(</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r"^=== PDF PAGE (\d+) ===\s*$",</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re.MULTILINE</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a:t>
            </a:r>
            <a:endParaRPr lang="en-US" sz="1110" dirty="0"/>
          </a:p>
          <a:p>
            <a:pPr marL="0" indent="0" algn="l">
              <a:buNone/>
            </a:pP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page_text = normalise_text(raw[start:end])</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if page_text:</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documents.append({</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"page": page_number,</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"text": page_text</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a:t>
            </a:r>
            <a:endParaRPr lang="en-US" sz="1110" dirty="0"/>
          </a:p>
        </p:txBody>
      </p:sp>
      <p:sp>
        <p:nvSpPr>
          <p:cNvPr id="13" name="Shape 10"/>
          <p:cNvSpPr/>
          <p:nvPr/>
        </p:nvSpPr>
        <p:spPr>
          <a:xfrm>
            <a:off x="6839712" y="1728216"/>
            <a:ext cx="4443984" cy="1353312"/>
          </a:xfrm>
          <a:prstGeom prst="roundRect">
            <a:avLst>
              <a:gd name="adj" fmla="val 8108"/>
            </a:avLst>
          </a:prstGeom>
          <a:solidFill>
            <a:srgbClr val="FFFFFF"/>
          </a:solidFill>
          <a:ln w="6350">
            <a:solidFill>
              <a:srgbClr val="E1E6ED"/>
            </a:solidFill>
            <a:prstDash val="solid"/>
          </a:ln>
        </p:spPr>
      </p:sp>
      <p:sp>
        <p:nvSpPr>
          <p:cNvPr id="14" name="Shape 11"/>
          <p:cNvSpPr/>
          <p:nvPr/>
        </p:nvSpPr>
        <p:spPr>
          <a:xfrm>
            <a:off x="6839712" y="1728216"/>
            <a:ext cx="64008" cy="1353312"/>
          </a:xfrm>
          <a:prstGeom prst="rect">
            <a:avLst/>
          </a:prstGeom>
          <a:solidFill>
            <a:srgbClr val="0FA99F"/>
          </a:solidFill>
          <a:ln w="12700">
            <a:solidFill>
              <a:srgbClr val="0FA99F">
                <a:alpha val="0"/>
              </a:srgbClr>
            </a:solidFill>
            <a:prstDash val="solid"/>
          </a:ln>
        </p:spPr>
      </p:sp>
      <p:sp>
        <p:nvSpPr>
          <p:cNvPr id="15" name="Text 12"/>
          <p:cNvSpPr txBox="1"/>
          <p:nvPr/>
        </p:nvSpPr>
        <p:spPr>
          <a:xfrm>
            <a:off x="7040880" y="1892808"/>
            <a:ext cx="4078224"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Why page-level?</a:t>
            </a:r>
            <a:endParaRPr lang="en-US" sz="1600" dirty="0"/>
          </a:p>
        </p:txBody>
      </p:sp>
      <p:sp>
        <p:nvSpPr>
          <p:cNvPr id="16" name="Text 13"/>
          <p:cNvSpPr txBox="1"/>
          <p:nvPr/>
        </p:nvSpPr>
        <p:spPr>
          <a:xfrm>
            <a:off x="7059168" y="2258568"/>
            <a:ext cx="4041648"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Preserves traceability back to the source PDF and supports checking retrieval success by page.</a:t>
            </a:r>
            <a:endParaRPr lang="en-US" sz="1250" dirty="0"/>
          </a:p>
        </p:txBody>
      </p:sp>
      <p:sp>
        <p:nvSpPr>
          <p:cNvPr id="17" name="Shape 14"/>
          <p:cNvSpPr/>
          <p:nvPr/>
        </p:nvSpPr>
        <p:spPr>
          <a:xfrm>
            <a:off x="6839712" y="3255264"/>
            <a:ext cx="4443984" cy="1353312"/>
          </a:xfrm>
          <a:prstGeom prst="roundRect">
            <a:avLst>
              <a:gd name="adj" fmla="val 8108"/>
            </a:avLst>
          </a:prstGeom>
          <a:solidFill>
            <a:srgbClr val="FFFFFF"/>
          </a:solidFill>
          <a:ln w="6350">
            <a:solidFill>
              <a:srgbClr val="E1E6ED"/>
            </a:solidFill>
            <a:prstDash val="solid"/>
          </a:ln>
        </p:spPr>
      </p:sp>
      <p:sp>
        <p:nvSpPr>
          <p:cNvPr id="18" name="Shape 15"/>
          <p:cNvSpPr/>
          <p:nvPr/>
        </p:nvSpPr>
        <p:spPr>
          <a:xfrm>
            <a:off x="6839712" y="3255264"/>
            <a:ext cx="64008" cy="1353312"/>
          </a:xfrm>
          <a:prstGeom prst="rect">
            <a:avLst/>
          </a:prstGeom>
          <a:solidFill>
            <a:srgbClr val="E9AE3C"/>
          </a:solidFill>
          <a:ln w="12700">
            <a:solidFill>
              <a:srgbClr val="E9AE3C">
                <a:alpha val="0"/>
              </a:srgbClr>
            </a:solidFill>
            <a:prstDash val="solid"/>
          </a:ln>
        </p:spPr>
      </p:sp>
      <p:sp>
        <p:nvSpPr>
          <p:cNvPr id="19" name="Text 16"/>
          <p:cNvSpPr txBox="1"/>
          <p:nvPr/>
        </p:nvSpPr>
        <p:spPr>
          <a:xfrm>
            <a:off x="7040880" y="3419856"/>
            <a:ext cx="4078224"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Why normalize whitespace?</a:t>
            </a:r>
            <a:endParaRPr lang="en-US" sz="1600" dirty="0"/>
          </a:p>
        </p:txBody>
      </p:sp>
      <p:sp>
        <p:nvSpPr>
          <p:cNvPr id="20" name="Text 17"/>
          <p:cNvSpPr txBox="1"/>
          <p:nvPr/>
        </p:nvSpPr>
        <p:spPr>
          <a:xfrm>
            <a:off x="7059168" y="3785616"/>
            <a:ext cx="4041648"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Reduces messy line breaks from PDF extraction without trying to rewrite the content.</a:t>
            </a:r>
            <a:endParaRPr lang="en-US" sz="1250" dirty="0"/>
          </a:p>
        </p:txBody>
      </p:sp>
      <p:sp>
        <p:nvSpPr>
          <p:cNvPr id="21" name="Shape 18"/>
          <p:cNvSpPr/>
          <p:nvPr/>
        </p:nvSpPr>
        <p:spPr>
          <a:xfrm>
            <a:off x="768096" y="5358384"/>
            <a:ext cx="3858768" cy="283464"/>
          </a:xfrm>
          <a:prstGeom prst="roundRect">
            <a:avLst>
              <a:gd name="adj" fmla="val 38710"/>
            </a:avLst>
          </a:prstGeom>
          <a:solidFill>
            <a:srgbClr val="EEF1FF"/>
          </a:solidFill>
          <a:ln w="12700">
            <a:solidFill>
              <a:srgbClr val="EEF1FF">
                <a:alpha val="0"/>
              </a:srgbClr>
            </a:solidFill>
            <a:prstDash val="solid"/>
          </a:ln>
        </p:spPr>
      </p:sp>
      <p:sp>
        <p:nvSpPr>
          <p:cNvPr id="22" name="Text 19"/>
          <p:cNvSpPr txBox="1"/>
          <p:nvPr/>
        </p:nvSpPr>
        <p:spPr>
          <a:xfrm>
            <a:off x="841248" y="5376672"/>
            <a:ext cx="3712464" cy="237744"/>
          </a:xfrm>
          <a:prstGeom prst="rect">
            <a:avLst/>
          </a:prstGeom>
          <a:noFill/>
          <a:ln/>
        </p:spPr>
        <p:txBody>
          <a:bodyPr wrap="square" lIns="0" tIns="0" rIns="0" bIns="0" rtlCol="0" anchor="ctr">
            <a:normAutofit/>
          </a:bodyPr>
          <a:lstStyle/>
          <a:p>
            <a:pPr marL="0" indent="0" algn="ctr">
              <a:buNone/>
            </a:pPr>
            <a:r>
              <a:rPr lang="en-US" sz="1000" b="1" dirty="0">
                <a:solidFill>
                  <a:srgbClr val="111B2E"/>
                </a:solidFill>
                <a:latin typeface="Aptos" pitchFamily="34" charset="0"/>
                <a:ea typeface="Aptos" pitchFamily="34" charset="-122"/>
                <a:cs typeface="Aptos" pitchFamily="34" charset="-120"/>
              </a:rPr>
              <a:t>INPUT: bit_rules_extracted.txt + sample_data.csv</a:t>
            </a:r>
            <a:endParaRPr lang="en-US" sz="1000" dirty="0"/>
          </a:p>
        </p:txBody>
      </p:sp>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07 • RETRIEVER A</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TF-IDF: match the words that matter</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A transparent baseline for questions that reuse exact terms from the document.</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419405"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31520" y="1728216"/>
            <a:ext cx="5806440" cy="3401568"/>
          </a:xfrm>
          <a:prstGeom prst="roundRect">
            <a:avLst>
              <a:gd name="adj" fmla="val 3226"/>
            </a:avLst>
          </a:prstGeom>
          <a:solidFill>
            <a:srgbClr val="172237"/>
          </a:solidFill>
          <a:ln w="12700">
            <a:solidFill>
              <a:srgbClr val="172237"/>
            </a:solidFill>
            <a:prstDash val="solid"/>
          </a:ln>
        </p:spPr>
      </p:sp>
      <p:sp>
        <p:nvSpPr>
          <p:cNvPr id="9" name="Shape 6"/>
          <p:cNvSpPr/>
          <p:nvPr/>
        </p:nvSpPr>
        <p:spPr>
          <a:xfrm>
            <a:off x="896112" y="1865376"/>
            <a:ext cx="82296" cy="82296"/>
          </a:xfrm>
          <a:prstGeom prst="ellipse">
            <a:avLst/>
          </a:prstGeom>
          <a:solidFill>
            <a:srgbClr val="F16B61"/>
          </a:solidFill>
          <a:ln w="12700">
            <a:solidFill>
              <a:srgbClr val="F16B61">
                <a:alpha val="0"/>
              </a:srgbClr>
            </a:solidFill>
            <a:prstDash val="solid"/>
          </a:ln>
        </p:spPr>
      </p:sp>
      <p:sp>
        <p:nvSpPr>
          <p:cNvPr id="10" name="Shape 7"/>
          <p:cNvSpPr/>
          <p:nvPr/>
        </p:nvSpPr>
        <p:spPr>
          <a:xfrm>
            <a:off x="1042416" y="1865376"/>
            <a:ext cx="82296" cy="82296"/>
          </a:xfrm>
          <a:prstGeom prst="ellipse">
            <a:avLst/>
          </a:prstGeom>
          <a:solidFill>
            <a:srgbClr val="E9AE3C"/>
          </a:solidFill>
          <a:ln w="12700">
            <a:solidFill>
              <a:srgbClr val="E9AE3C">
                <a:alpha val="0"/>
              </a:srgbClr>
            </a:solidFill>
            <a:prstDash val="solid"/>
          </a:ln>
        </p:spPr>
      </p:sp>
      <p:sp>
        <p:nvSpPr>
          <p:cNvPr id="11" name="Shape 8"/>
          <p:cNvSpPr/>
          <p:nvPr/>
        </p:nvSpPr>
        <p:spPr>
          <a:xfrm>
            <a:off x="1188720" y="1865376"/>
            <a:ext cx="82296" cy="82296"/>
          </a:xfrm>
          <a:prstGeom prst="ellipse">
            <a:avLst/>
          </a:prstGeom>
          <a:solidFill>
            <a:srgbClr val="0FA99F"/>
          </a:solidFill>
          <a:ln w="12700">
            <a:solidFill>
              <a:srgbClr val="0FA99F">
                <a:alpha val="0"/>
              </a:srgbClr>
            </a:solidFill>
            <a:prstDash val="solid"/>
          </a:ln>
        </p:spPr>
      </p:sp>
      <p:sp>
        <p:nvSpPr>
          <p:cNvPr id="12" name="Text 9"/>
          <p:cNvSpPr txBox="1"/>
          <p:nvPr/>
        </p:nvSpPr>
        <p:spPr>
          <a:xfrm>
            <a:off x="914400" y="2112264"/>
            <a:ext cx="5458968" cy="2926080"/>
          </a:xfrm>
          <a:prstGeom prst="rect">
            <a:avLst/>
          </a:prstGeom>
          <a:noFill/>
          <a:ln/>
        </p:spPr>
        <p:txBody>
          <a:bodyPr wrap="square" lIns="0" tIns="0" rIns="0" bIns="0" rtlCol="0" anchor="t">
            <a:normAutofit/>
          </a:bodyPr>
          <a:lstStyle/>
          <a:p>
            <a:pPr marL="0" indent="0" algn="l">
              <a:buNone/>
            </a:pPr>
            <a:r>
              <a:rPr lang="en-US" sz="1110" dirty="0">
                <a:solidFill>
                  <a:srgbClr val="EAF0F8"/>
                </a:solidFill>
                <a:latin typeface="Consolas" pitchFamily="34" charset="0"/>
                <a:ea typeface="Consolas" pitchFamily="34" charset="-122"/>
                <a:cs typeface="Consolas" pitchFamily="34" charset="-120"/>
              </a:rPr>
              <a:t>self.vectorizer = TfidfVectorizer(</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stop_words="english",</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ngram_range=(1, 2)</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self.matrix = self.vectorizer.fit_transform(</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[d["text"] for d in documents]</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a:t>
            </a:r>
            <a:endParaRPr lang="en-US" sz="1110" dirty="0"/>
          </a:p>
          <a:p>
            <a:pPr marL="0" indent="0" algn="l">
              <a:buNone/>
            </a:pP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query_vector = self.vectorizer.transform([question])</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scores = cosine_similarity(</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    query_vector, self.matrix</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).ravel()</a:t>
            </a:r>
            <a:endParaRPr lang="en-US" sz="1110" dirty="0"/>
          </a:p>
          <a:p>
            <a:pPr marL="0" indent="0" algn="l">
              <a:buNone/>
            </a:pPr>
            <a:r>
              <a:rPr lang="en-US" sz="1110" dirty="0">
                <a:solidFill>
                  <a:srgbClr val="EAF0F8"/>
                </a:solidFill>
                <a:latin typeface="Consolas" pitchFamily="34" charset="0"/>
                <a:ea typeface="Consolas" pitchFamily="34" charset="-122"/>
                <a:cs typeface="Consolas" pitchFamily="34" charset="-120"/>
              </a:rPr>
              <a:t>indices = scores.argsort()[::-1][:top_k]</a:t>
            </a:r>
            <a:endParaRPr lang="en-US" sz="1110" dirty="0"/>
          </a:p>
        </p:txBody>
      </p:sp>
      <p:sp>
        <p:nvSpPr>
          <p:cNvPr id="13" name="Shape 10"/>
          <p:cNvSpPr/>
          <p:nvPr/>
        </p:nvSpPr>
        <p:spPr>
          <a:xfrm>
            <a:off x="6858000" y="1764792"/>
            <a:ext cx="4343400" cy="1170432"/>
          </a:xfrm>
          <a:prstGeom prst="roundRect">
            <a:avLst>
              <a:gd name="adj" fmla="val 9375"/>
            </a:avLst>
          </a:prstGeom>
          <a:solidFill>
            <a:srgbClr val="E9F8F6"/>
          </a:solidFill>
          <a:ln w="6350">
            <a:solidFill>
              <a:srgbClr val="E1E6ED"/>
            </a:solidFill>
            <a:prstDash val="solid"/>
          </a:ln>
        </p:spPr>
      </p:sp>
      <p:sp>
        <p:nvSpPr>
          <p:cNvPr id="14" name="Shape 11"/>
          <p:cNvSpPr/>
          <p:nvPr/>
        </p:nvSpPr>
        <p:spPr>
          <a:xfrm>
            <a:off x="6858000" y="1764792"/>
            <a:ext cx="64008" cy="1170432"/>
          </a:xfrm>
          <a:prstGeom prst="rect">
            <a:avLst/>
          </a:prstGeom>
          <a:solidFill>
            <a:srgbClr val="0FA99F"/>
          </a:solidFill>
          <a:ln w="12700">
            <a:solidFill>
              <a:srgbClr val="0FA99F">
                <a:alpha val="0"/>
              </a:srgbClr>
            </a:solidFill>
            <a:prstDash val="solid"/>
          </a:ln>
        </p:spPr>
      </p:sp>
      <p:sp>
        <p:nvSpPr>
          <p:cNvPr id="15" name="Text 12"/>
          <p:cNvSpPr txBox="1"/>
          <p:nvPr/>
        </p:nvSpPr>
        <p:spPr>
          <a:xfrm>
            <a:off x="7059168" y="1929384"/>
            <a:ext cx="3977640"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Strength</a:t>
            </a:r>
            <a:endParaRPr lang="en-US" sz="1600" dirty="0"/>
          </a:p>
        </p:txBody>
      </p:sp>
      <p:sp>
        <p:nvSpPr>
          <p:cNvPr id="16" name="Text 13"/>
          <p:cNvSpPr txBox="1"/>
          <p:nvPr/>
        </p:nvSpPr>
        <p:spPr>
          <a:xfrm>
            <a:off x="7077456" y="2295144"/>
            <a:ext cx="3941064" cy="5486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Fast, lightweight, easy to inspect.</a:t>
            </a:r>
            <a:endParaRPr lang="en-US" sz="1250" dirty="0"/>
          </a:p>
        </p:txBody>
      </p:sp>
      <p:sp>
        <p:nvSpPr>
          <p:cNvPr id="17" name="Shape 14"/>
          <p:cNvSpPr/>
          <p:nvPr/>
        </p:nvSpPr>
        <p:spPr>
          <a:xfrm>
            <a:off x="6858000" y="3127248"/>
            <a:ext cx="4343400" cy="1170432"/>
          </a:xfrm>
          <a:prstGeom prst="roundRect">
            <a:avLst>
              <a:gd name="adj" fmla="val 9375"/>
            </a:avLst>
          </a:prstGeom>
          <a:solidFill>
            <a:srgbClr val="FFF0EE"/>
          </a:solidFill>
          <a:ln w="6350">
            <a:solidFill>
              <a:srgbClr val="E1E6ED"/>
            </a:solidFill>
            <a:prstDash val="solid"/>
          </a:ln>
        </p:spPr>
      </p:sp>
      <p:sp>
        <p:nvSpPr>
          <p:cNvPr id="18" name="Shape 15"/>
          <p:cNvSpPr/>
          <p:nvPr/>
        </p:nvSpPr>
        <p:spPr>
          <a:xfrm>
            <a:off x="6858000" y="3127248"/>
            <a:ext cx="64008" cy="1170432"/>
          </a:xfrm>
          <a:prstGeom prst="rect">
            <a:avLst/>
          </a:prstGeom>
          <a:solidFill>
            <a:srgbClr val="F16B61"/>
          </a:solidFill>
          <a:ln w="12700">
            <a:solidFill>
              <a:srgbClr val="F16B61">
                <a:alpha val="0"/>
              </a:srgbClr>
            </a:solidFill>
            <a:prstDash val="solid"/>
          </a:ln>
        </p:spPr>
      </p:sp>
      <p:sp>
        <p:nvSpPr>
          <p:cNvPr id="19" name="Text 16"/>
          <p:cNvSpPr txBox="1"/>
          <p:nvPr/>
        </p:nvSpPr>
        <p:spPr>
          <a:xfrm>
            <a:off x="7059168" y="3291840"/>
            <a:ext cx="3977640"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Risk</a:t>
            </a:r>
            <a:endParaRPr lang="en-US" sz="1600" dirty="0"/>
          </a:p>
        </p:txBody>
      </p:sp>
      <p:sp>
        <p:nvSpPr>
          <p:cNvPr id="20" name="Text 17"/>
          <p:cNvSpPr txBox="1"/>
          <p:nvPr/>
        </p:nvSpPr>
        <p:spPr>
          <a:xfrm>
            <a:off x="7077456" y="3657600"/>
            <a:ext cx="3941064" cy="54864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Exact-word dependence can hurt paraphrased queries.</a:t>
            </a:r>
            <a:endParaRPr lang="en-US" sz="1250" dirty="0"/>
          </a:p>
        </p:txBody>
      </p:sp>
      <p:sp>
        <p:nvSpPr>
          <p:cNvPr id="21" name="Shape 18"/>
          <p:cNvSpPr/>
          <p:nvPr/>
        </p:nvSpPr>
        <p:spPr>
          <a:xfrm>
            <a:off x="6858000" y="4498848"/>
            <a:ext cx="4343400" cy="612648"/>
          </a:xfrm>
          <a:prstGeom prst="roundRect">
            <a:avLst>
              <a:gd name="adj" fmla="val 17910"/>
            </a:avLst>
          </a:prstGeom>
          <a:solidFill>
            <a:srgbClr val="FFFFFF"/>
          </a:solidFill>
          <a:ln w="12700">
            <a:solidFill>
              <a:srgbClr val="E1E6ED"/>
            </a:solidFill>
            <a:prstDash val="solid"/>
          </a:ln>
        </p:spPr>
      </p:sp>
      <p:sp>
        <p:nvSpPr>
          <p:cNvPr id="22" name="Text 19"/>
          <p:cNvSpPr txBox="1"/>
          <p:nvPr/>
        </p:nvSpPr>
        <p:spPr>
          <a:xfrm>
            <a:off x="7059168" y="4663440"/>
            <a:ext cx="3931920" cy="228600"/>
          </a:xfrm>
          <a:prstGeom prst="rect">
            <a:avLst/>
          </a:prstGeom>
          <a:noFill/>
          <a:ln/>
        </p:spPr>
        <p:txBody>
          <a:bodyPr wrap="square" lIns="0" tIns="0" rIns="0" bIns="0" rtlCol="0" anchor="ctr">
            <a:normAutofit/>
          </a:bodyPr>
          <a:lstStyle/>
          <a:p>
            <a:pPr marL="0" indent="0" algn="ctr">
              <a:buNone/>
            </a:pPr>
            <a:r>
              <a:rPr lang="en-US" sz="1250" b="1" dirty="0">
                <a:solidFill>
                  <a:srgbClr val="111B2E"/>
                </a:solidFill>
                <a:latin typeface="Aptos" pitchFamily="34" charset="0"/>
                <a:ea typeface="Aptos" pitchFamily="34" charset="-122"/>
                <a:cs typeface="Aptos" pitchFamily="34" charset="-120"/>
              </a:rPr>
              <a:t>Returned result = page + text + similarity score</a:t>
            </a:r>
            <a:endParaRPr lang="en-US" sz="1250" dirty="0"/>
          </a:p>
        </p:txBody>
      </p:sp>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08 • RETRIEVER B</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Semantic retrieval: compare meaning</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A sentence-transformer maps text into numeric embeddings; similar meanings should have nearby vectors.</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471830"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49808" y="1828800"/>
            <a:ext cx="4937760" cy="2596896"/>
          </a:xfrm>
          <a:prstGeom prst="roundRect">
            <a:avLst>
              <a:gd name="adj" fmla="val 4225"/>
            </a:avLst>
          </a:prstGeom>
          <a:solidFill>
            <a:srgbClr val="FFFFFF"/>
          </a:solidFill>
          <a:ln w="12700">
            <a:solidFill>
              <a:srgbClr val="E1E6ED"/>
            </a:solidFill>
            <a:prstDash val="solid"/>
          </a:ln>
        </p:spPr>
      </p:sp>
      <p:sp>
        <p:nvSpPr>
          <p:cNvPr id="9" name="Text 6"/>
          <p:cNvSpPr txBox="1"/>
          <p:nvPr/>
        </p:nvSpPr>
        <p:spPr>
          <a:xfrm>
            <a:off x="987552" y="2039112"/>
            <a:ext cx="1828800" cy="182880"/>
          </a:xfrm>
          <a:prstGeom prst="rect">
            <a:avLst/>
          </a:prstGeom>
          <a:noFill/>
          <a:ln/>
        </p:spPr>
        <p:txBody>
          <a:bodyPr wrap="square" lIns="0" tIns="0" rIns="0" bIns="0" rtlCol="0" anchor="ctr">
            <a:normAutofit/>
          </a:bodyPr>
          <a:lstStyle/>
          <a:p>
            <a:pPr marL="0" indent="0" algn="l">
              <a:buNone/>
            </a:pPr>
            <a:r>
              <a:rPr lang="en-US" sz="1000" b="1" kern="0" spc="130" dirty="0">
                <a:solidFill>
                  <a:srgbClr val="0FA99F"/>
                </a:solidFill>
                <a:latin typeface="Aptos" pitchFamily="34" charset="0"/>
                <a:ea typeface="Aptos" pitchFamily="34" charset="-122"/>
                <a:cs typeface="Aptos" pitchFamily="34" charset="-120"/>
              </a:rPr>
              <a:t>TEXT → VECTOR</a:t>
            </a:r>
            <a:endParaRPr lang="en-US" sz="1000" dirty="0"/>
          </a:p>
        </p:txBody>
      </p:sp>
      <p:sp>
        <p:nvSpPr>
          <p:cNvPr id="10" name="Text 7"/>
          <p:cNvSpPr txBox="1"/>
          <p:nvPr/>
        </p:nvSpPr>
        <p:spPr>
          <a:xfrm>
            <a:off x="1005840" y="2432304"/>
            <a:ext cx="4251960" cy="329184"/>
          </a:xfrm>
          <a:prstGeom prst="rect">
            <a:avLst/>
          </a:prstGeom>
          <a:noFill/>
          <a:ln/>
        </p:spPr>
        <p:txBody>
          <a:bodyPr wrap="square" lIns="0" tIns="0" rIns="0" bIns="0" rtlCol="0" anchor="ctr">
            <a:normAutofit/>
          </a:bodyPr>
          <a:lstStyle/>
          <a:p>
            <a:pPr marL="0" indent="0" algn="l">
              <a:buNone/>
            </a:pPr>
            <a:r>
              <a:rPr lang="en-US" sz="1700" b="1" dirty="0">
                <a:solidFill>
                  <a:srgbClr val="111B2E"/>
                </a:solidFill>
                <a:latin typeface="Aptos" pitchFamily="34" charset="0"/>
                <a:ea typeface="Aptos" pitchFamily="34" charset="-122"/>
                <a:cs typeface="Aptos" pitchFamily="34" charset="-120"/>
              </a:rPr>
              <a:t>“library opening hours”</a:t>
            </a:r>
            <a:endParaRPr lang="en-US" sz="1700" dirty="0"/>
          </a:p>
        </p:txBody>
      </p:sp>
      <p:sp>
        <p:nvSpPr>
          <p:cNvPr id="11" name="Shape 8"/>
          <p:cNvSpPr/>
          <p:nvPr/>
        </p:nvSpPr>
        <p:spPr>
          <a:xfrm>
            <a:off x="1005840" y="3017520"/>
            <a:ext cx="228600" cy="259232"/>
          </a:xfrm>
          <a:prstGeom prst="roundRect">
            <a:avLst>
              <a:gd name="adj" fmla="val 48000"/>
            </a:avLst>
          </a:prstGeom>
          <a:solidFill>
            <a:srgbClr val="4E6BFF"/>
          </a:solidFill>
          <a:ln w="12700">
            <a:solidFill>
              <a:srgbClr val="4E6BFF">
                <a:alpha val="0"/>
              </a:srgbClr>
            </a:solidFill>
            <a:prstDash val="solid"/>
          </a:ln>
        </p:spPr>
      </p:sp>
      <p:sp>
        <p:nvSpPr>
          <p:cNvPr id="12" name="Shape 9"/>
          <p:cNvSpPr/>
          <p:nvPr/>
        </p:nvSpPr>
        <p:spPr>
          <a:xfrm>
            <a:off x="1335024" y="3017520"/>
            <a:ext cx="228600" cy="720090"/>
          </a:xfrm>
          <a:prstGeom prst="roundRect">
            <a:avLst>
              <a:gd name="adj" fmla="val 48000"/>
            </a:avLst>
          </a:prstGeom>
          <a:solidFill>
            <a:srgbClr val="4E6BFF"/>
          </a:solidFill>
          <a:ln w="12700">
            <a:solidFill>
              <a:srgbClr val="4E6BFF">
                <a:alpha val="0"/>
              </a:srgbClr>
            </a:solidFill>
            <a:prstDash val="solid"/>
          </a:ln>
        </p:spPr>
      </p:sp>
      <p:sp>
        <p:nvSpPr>
          <p:cNvPr id="13" name="Shape 10"/>
          <p:cNvSpPr/>
          <p:nvPr/>
        </p:nvSpPr>
        <p:spPr>
          <a:xfrm>
            <a:off x="1664208" y="3017520"/>
            <a:ext cx="228600" cy="432054"/>
          </a:xfrm>
          <a:prstGeom prst="roundRect">
            <a:avLst>
              <a:gd name="adj" fmla="val 48000"/>
            </a:avLst>
          </a:prstGeom>
          <a:solidFill>
            <a:srgbClr val="4E6BFF"/>
          </a:solidFill>
          <a:ln w="12700">
            <a:solidFill>
              <a:srgbClr val="4E6BFF">
                <a:alpha val="0"/>
              </a:srgbClr>
            </a:solidFill>
            <a:prstDash val="solid"/>
          </a:ln>
        </p:spPr>
      </p:sp>
      <p:sp>
        <p:nvSpPr>
          <p:cNvPr id="14" name="Shape 11"/>
          <p:cNvSpPr/>
          <p:nvPr/>
        </p:nvSpPr>
        <p:spPr>
          <a:xfrm>
            <a:off x="1993392" y="3017520"/>
            <a:ext cx="228600" cy="873709"/>
          </a:xfrm>
          <a:prstGeom prst="roundRect">
            <a:avLst>
              <a:gd name="adj" fmla="val 48000"/>
            </a:avLst>
          </a:prstGeom>
          <a:solidFill>
            <a:srgbClr val="4E6BFF"/>
          </a:solidFill>
          <a:ln w="12700">
            <a:solidFill>
              <a:srgbClr val="4E6BFF">
                <a:alpha val="0"/>
              </a:srgbClr>
            </a:solidFill>
            <a:prstDash val="solid"/>
          </a:ln>
        </p:spPr>
      </p:sp>
      <p:sp>
        <p:nvSpPr>
          <p:cNvPr id="15" name="Shape 12"/>
          <p:cNvSpPr/>
          <p:nvPr/>
        </p:nvSpPr>
        <p:spPr>
          <a:xfrm>
            <a:off x="2322576" y="3017520"/>
            <a:ext cx="228600" cy="364846"/>
          </a:xfrm>
          <a:prstGeom prst="roundRect">
            <a:avLst>
              <a:gd name="adj" fmla="val 48000"/>
            </a:avLst>
          </a:prstGeom>
          <a:solidFill>
            <a:srgbClr val="4E6BFF"/>
          </a:solidFill>
          <a:ln w="12700">
            <a:solidFill>
              <a:srgbClr val="4E6BFF">
                <a:alpha val="0"/>
              </a:srgbClr>
            </a:solidFill>
            <a:prstDash val="solid"/>
          </a:ln>
        </p:spPr>
      </p:sp>
      <p:sp>
        <p:nvSpPr>
          <p:cNvPr id="16" name="Shape 13"/>
          <p:cNvSpPr/>
          <p:nvPr/>
        </p:nvSpPr>
        <p:spPr>
          <a:xfrm>
            <a:off x="2651760" y="3017520"/>
            <a:ext cx="228600" cy="595274"/>
          </a:xfrm>
          <a:prstGeom prst="roundRect">
            <a:avLst>
              <a:gd name="adj" fmla="val 48000"/>
            </a:avLst>
          </a:prstGeom>
          <a:solidFill>
            <a:srgbClr val="4E6BFF"/>
          </a:solidFill>
          <a:ln w="12700">
            <a:solidFill>
              <a:srgbClr val="4E6BFF">
                <a:alpha val="0"/>
              </a:srgbClr>
            </a:solidFill>
            <a:prstDash val="solid"/>
          </a:ln>
        </p:spPr>
      </p:sp>
      <p:sp>
        <p:nvSpPr>
          <p:cNvPr id="17" name="Shape 14"/>
          <p:cNvSpPr/>
          <p:nvPr/>
        </p:nvSpPr>
        <p:spPr>
          <a:xfrm>
            <a:off x="2980944" y="3017520"/>
            <a:ext cx="228600" cy="172822"/>
          </a:xfrm>
          <a:prstGeom prst="roundRect">
            <a:avLst>
              <a:gd name="adj" fmla="val 63492"/>
            </a:avLst>
          </a:prstGeom>
          <a:solidFill>
            <a:srgbClr val="4E6BFF"/>
          </a:solidFill>
          <a:ln w="12700">
            <a:solidFill>
              <a:srgbClr val="4E6BFF">
                <a:alpha val="0"/>
              </a:srgbClr>
            </a:solidFill>
            <a:prstDash val="solid"/>
          </a:ln>
        </p:spPr>
      </p:sp>
      <p:sp>
        <p:nvSpPr>
          <p:cNvPr id="18" name="Shape 15"/>
          <p:cNvSpPr/>
          <p:nvPr/>
        </p:nvSpPr>
        <p:spPr>
          <a:xfrm>
            <a:off x="3310128" y="3017520"/>
            <a:ext cx="228600" cy="796900"/>
          </a:xfrm>
          <a:prstGeom prst="roundRect">
            <a:avLst>
              <a:gd name="adj" fmla="val 48000"/>
            </a:avLst>
          </a:prstGeom>
          <a:solidFill>
            <a:srgbClr val="4E6BFF"/>
          </a:solidFill>
          <a:ln w="12700">
            <a:solidFill>
              <a:srgbClr val="4E6BFF">
                <a:alpha val="0"/>
              </a:srgbClr>
            </a:solidFill>
            <a:prstDash val="solid"/>
          </a:ln>
        </p:spPr>
      </p:sp>
      <p:sp>
        <p:nvSpPr>
          <p:cNvPr id="19" name="Shape 16"/>
          <p:cNvSpPr/>
          <p:nvPr/>
        </p:nvSpPr>
        <p:spPr>
          <a:xfrm>
            <a:off x="3639312" y="3017520"/>
            <a:ext cx="228600" cy="489661"/>
          </a:xfrm>
          <a:prstGeom prst="roundRect">
            <a:avLst>
              <a:gd name="adj" fmla="val 48000"/>
            </a:avLst>
          </a:prstGeom>
          <a:solidFill>
            <a:srgbClr val="4E6BFF"/>
          </a:solidFill>
          <a:ln w="12700">
            <a:solidFill>
              <a:srgbClr val="4E6BFF">
                <a:alpha val="0"/>
              </a:srgbClr>
            </a:solidFill>
            <a:prstDash val="solid"/>
          </a:ln>
        </p:spPr>
      </p:sp>
      <p:sp>
        <p:nvSpPr>
          <p:cNvPr id="20" name="Shape 17"/>
          <p:cNvSpPr/>
          <p:nvPr/>
        </p:nvSpPr>
        <p:spPr>
          <a:xfrm>
            <a:off x="3968496" y="3017520"/>
            <a:ext cx="228600" cy="633679"/>
          </a:xfrm>
          <a:prstGeom prst="roundRect">
            <a:avLst>
              <a:gd name="adj" fmla="val 48000"/>
            </a:avLst>
          </a:prstGeom>
          <a:solidFill>
            <a:srgbClr val="4E6BFF"/>
          </a:solidFill>
          <a:ln w="12700">
            <a:solidFill>
              <a:srgbClr val="4E6BFF">
                <a:alpha val="0"/>
              </a:srgbClr>
            </a:solidFill>
            <a:prstDash val="solid"/>
          </a:ln>
        </p:spPr>
      </p:sp>
      <p:sp>
        <p:nvSpPr>
          <p:cNvPr id="21" name="Shape 18"/>
          <p:cNvSpPr/>
          <p:nvPr/>
        </p:nvSpPr>
        <p:spPr>
          <a:xfrm>
            <a:off x="4297680" y="3017520"/>
            <a:ext cx="228600" cy="278435"/>
          </a:xfrm>
          <a:prstGeom prst="roundRect">
            <a:avLst>
              <a:gd name="adj" fmla="val 48000"/>
            </a:avLst>
          </a:prstGeom>
          <a:solidFill>
            <a:srgbClr val="4E6BFF"/>
          </a:solidFill>
          <a:ln w="12700">
            <a:solidFill>
              <a:srgbClr val="4E6BFF">
                <a:alpha val="0"/>
              </a:srgbClr>
            </a:solidFill>
            <a:prstDash val="solid"/>
          </a:ln>
        </p:spPr>
      </p:sp>
      <p:sp>
        <p:nvSpPr>
          <p:cNvPr id="22" name="Shape 19"/>
          <p:cNvSpPr/>
          <p:nvPr/>
        </p:nvSpPr>
        <p:spPr>
          <a:xfrm>
            <a:off x="4626864" y="3017520"/>
            <a:ext cx="228600" cy="528066"/>
          </a:xfrm>
          <a:prstGeom prst="roundRect">
            <a:avLst>
              <a:gd name="adj" fmla="val 48000"/>
            </a:avLst>
          </a:prstGeom>
          <a:solidFill>
            <a:srgbClr val="4E6BFF"/>
          </a:solidFill>
          <a:ln w="12700">
            <a:solidFill>
              <a:srgbClr val="4E6BFF">
                <a:alpha val="0"/>
              </a:srgbClr>
            </a:solidFill>
            <a:prstDash val="solid"/>
          </a:ln>
        </p:spPr>
      </p:sp>
      <p:sp>
        <p:nvSpPr>
          <p:cNvPr id="23" name="Text 20"/>
          <p:cNvSpPr txBox="1"/>
          <p:nvPr/>
        </p:nvSpPr>
        <p:spPr>
          <a:xfrm>
            <a:off x="1005840" y="4087368"/>
            <a:ext cx="4389120" cy="201168"/>
          </a:xfrm>
          <a:prstGeom prst="rect">
            <a:avLst/>
          </a:prstGeom>
          <a:noFill/>
          <a:ln/>
        </p:spPr>
        <p:txBody>
          <a:bodyPr wrap="square" lIns="0" tIns="0" rIns="0" bIns="0" rtlCol="0" anchor="ctr">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Embedding: a list of numbers representing text</a:t>
            </a:r>
            <a:endParaRPr lang="en-US" sz="1150" dirty="0"/>
          </a:p>
        </p:txBody>
      </p:sp>
      <p:sp>
        <p:nvSpPr>
          <p:cNvPr id="24" name="Shape 21"/>
          <p:cNvSpPr/>
          <p:nvPr/>
        </p:nvSpPr>
        <p:spPr>
          <a:xfrm>
            <a:off x="6144768" y="1828800"/>
            <a:ext cx="5020056" cy="1179576"/>
          </a:xfrm>
          <a:prstGeom prst="roundRect">
            <a:avLst>
              <a:gd name="adj" fmla="val 9302"/>
            </a:avLst>
          </a:prstGeom>
          <a:solidFill>
            <a:srgbClr val="EEF1FF"/>
          </a:solidFill>
          <a:ln w="6350">
            <a:solidFill>
              <a:srgbClr val="E1E6ED"/>
            </a:solidFill>
            <a:prstDash val="solid"/>
          </a:ln>
        </p:spPr>
      </p:sp>
      <p:sp>
        <p:nvSpPr>
          <p:cNvPr id="25" name="Shape 22"/>
          <p:cNvSpPr/>
          <p:nvPr/>
        </p:nvSpPr>
        <p:spPr>
          <a:xfrm>
            <a:off x="6144768" y="1828800"/>
            <a:ext cx="64008" cy="1179576"/>
          </a:xfrm>
          <a:prstGeom prst="rect">
            <a:avLst/>
          </a:prstGeom>
          <a:solidFill>
            <a:srgbClr val="4E6BFF"/>
          </a:solidFill>
          <a:ln w="12700">
            <a:solidFill>
              <a:srgbClr val="4E6BFF">
                <a:alpha val="0"/>
              </a:srgbClr>
            </a:solidFill>
            <a:prstDash val="solid"/>
          </a:ln>
        </p:spPr>
      </p:sp>
      <p:sp>
        <p:nvSpPr>
          <p:cNvPr id="26" name="Text 23"/>
          <p:cNvSpPr txBox="1"/>
          <p:nvPr/>
        </p:nvSpPr>
        <p:spPr>
          <a:xfrm>
            <a:off x="6345936" y="1993392"/>
            <a:ext cx="4654296"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Cosine similarity</a:t>
            </a:r>
            <a:endParaRPr lang="en-US" sz="1600" dirty="0"/>
          </a:p>
        </p:txBody>
      </p:sp>
      <p:sp>
        <p:nvSpPr>
          <p:cNvPr id="27" name="Text 24"/>
          <p:cNvSpPr txBox="1"/>
          <p:nvPr/>
        </p:nvSpPr>
        <p:spPr>
          <a:xfrm>
            <a:off x="6364224" y="2359152"/>
            <a:ext cx="4617720" cy="557784"/>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Compare the question vector with every page vector.</a:t>
            </a:r>
            <a:endParaRPr lang="en-US" sz="1250" dirty="0"/>
          </a:p>
        </p:txBody>
      </p:sp>
      <p:sp>
        <p:nvSpPr>
          <p:cNvPr id="28" name="Shape 25"/>
          <p:cNvSpPr/>
          <p:nvPr/>
        </p:nvSpPr>
        <p:spPr>
          <a:xfrm>
            <a:off x="6144768" y="3227832"/>
            <a:ext cx="5020056" cy="1179576"/>
          </a:xfrm>
          <a:prstGeom prst="roundRect">
            <a:avLst>
              <a:gd name="adj" fmla="val 9302"/>
            </a:avLst>
          </a:prstGeom>
          <a:solidFill>
            <a:srgbClr val="FFF7E5"/>
          </a:solidFill>
          <a:ln w="6350">
            <a:solidFill>
              <a:srgbClr val="E1E6ED"/>
            </a:solidFill>
            <a:prstDash val="solid"/>
          </a:ln>
        </p:spPr>
      </p:sp>
      <p:sp>
        <p:nvSpPr>
          <p:cNvPr id="29" name="Shape 26"/>
          <p:cNvSpPr/>
          <p:nvPr/>
        </p:nvSpPr>
        <p:spPr>
          <a:xfrm>
            <a:off x="6144768" y="3227832"/>
            <a:ext cx="64008" cy="1179576"/>
          </a:xfrm>
          <a:prstGeom prst="rect">
            <a:avLst/>
          </a:prstGeom>
          <a:solidFill>
            <a:srgbClr val="E9AE3C"/>
          </a:solidFill>
          <a:ln w="12700">
            <a:solidFill>
              <a:srgbClr val="E9AE3C">
                <a:alpha val="0"/>
              </a:srgbClr>
            </a:solidFill>
            <a:prstDash val="solid"/>
          </a:ln>
        </p:spPr>
      </p:sp>
      <p:sp>
        <p:nvSpPr>
          <p:cNvPr id="30" name="Text 27"/>
          <p:cNvSpPr txBox="1"/>
          <p:nvPr/>
        </p:nvSpPr>
        <p:spPr>
          <a:xfrm>
            <a:off x="6345936" y="3392424"/>
            <a:ext cx="4654296" cy="274320"/>
          </a:xfrm>
          <a:prstGeom prst="rect">
            <a:avLst/>
          </a:prstGeom>
          <a:noFill/>
          <a:ln/>
        </p:spPr>
        <p:txBody>
          <a:bodyPr wrap="square" lIns="0" tIns="0" rIns="0" bIns="0" rtlCol="0" anchor="ctr">
            <a:normAutofit/>
          </a:bodyPr>
          <a:lstStyle/>
          <a:p>
            <a:pPr marL="0" indent="0" algn="l">
              <a:buNone/>
            </a:pPr>
            <a:r>
              <a:rPr lang="en-US" sz="1600" b="1" dirty="0">
                <a:solidFill>
                  <a:srgbClr val="111B2E"/>
                </a:solidFill>
                <a:latin typeface="Aptos" pitchFamily="34" charset="0"/>
                <a:ea typeface="Aptos" pitchFamily="34" charset="-122"/>
                <a:cs typeface="Aptos" pitchFamily="34" charset="-120"/>
              </a:rPr>
              <a:t>Normalization</a:t>
            </a:r>
            <a:endParaRPr lang="en-US" sz="1600" dirty="0"/>
          </a:p>
        </p:txBody>
      </p:sp>
      <p:sp>
        <p:nvSpPr>
          <p:cNvPr id="31" name="Text 28"/>
          <p:cNvSpPr txBox="1"/>
          <p:nvPr/>
        </p:nvSpPr>
        <p:spPr>
          <a:xfrm>
            <a:off x="6364224" y="3758184"/>
            <a:ext cx="4617720" cy="557784"/>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Vectors are normalized so dot product behaves like cosine similarity.</a:t>
            </a:r>
            <a:endParaRPr lang="en-US" sz="1250" dirty="0"/>
          </a:p>
        </p:txBody>
      </p:sp>
      <p:sp>
        <p:nvSpPr>
          <p:cNvPr id="32" name="Shape 29"/>
          <p:cNvSpPr/>
          <p:nvPr/>
        </p:nvSpPr>
        <p:spPr>
          <a:xfrm>
            <a:off x="6172200" y="4690872"/>
            <a:ext cx="2331720" cy="283464"/>
          </a:xfrm>
          <a:prstGeom prst="roundRect">
            <a:avLst>
              <a:gd name="adj" fmla="val 38710"/>
            </a:avLst>
          </a:prstGeom>
          <a:solidFill>
            <a:srgbClr val="E9F8F6"/>
          </a:solidFill>
          <a:ln w="12700">
            <a:solidFill>
              <a:srgbClr val="E9F8F6">
                <a:alpha val="0"/>
              </a:srgbClr>
            </a:solidFill>
            <a:prstDash val="solid"/>
          </a:ln>
        </p:spPr>
      </p:sp>
      <p:sp>
        <p:nvSpPr>
          <p:cNvPr id="33" name="Text 30"/>
          <p:cNvSpPr txBox="1"/>
          <p:nvPr/>
        </p:nvSpPr>
        <p:spPr>
          <a:xfrm>
            <a:off x="6245352" y="4709160"/>
            <a:ext cx="2185416" cy="237744"/>
          </a:xfrm>
          <a:prstGeom prst="rect">
            <a:avLst/>
          </a:prstGeom>
          <a:noFill/>
          <a:ln/>
        </p:spPr>
        <p:txBody>
          <a:bodyPr wrap="square" lIns="0" tIns="0" rIns="0" bIns="0" rtlCol="0" anchor="ctr">
            <a:normAutofit/>
          </a:bodyPr>
          <a:lstStyle/>
          <a:p>
            <a:pPr marL="0" indent="0" algn="ctr">
              <a:buNone/>
            </a:pPr>
            <a:r>
              <a:rPr lang="en-US" sz="1000" b="1" dirty="0">
                <a:solidFill>
                  <a:srgbClr val="111B2E"/>
                </a:solidFill>
                <a:latin typeface="Aptos" pitchFamily="34" charset="0"/>
                <a:ea typeface="Aptos" pitchFamily="34" charset="-122"/>
                <a:cs typeface="Aptos" pitchFamily="34" charset="-120"/>
              </a:rPr>
              <a:t>MODEL: all-MiniLM-L6-v2</a:t>
            </a:r>
            <a:endParaRPr lang="en-US" sz="100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09 • ANSWER GENERATION</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The same LLM answers for both methods</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Keeping generation fixed makes the retriever the main comparison variable.</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524256"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49808" y="1728216"/>
            <a:ext cx="6748272" cy="3602736"/>
          </a:xfrm>
          <a:prstGeom prst="roundRect">
            <a:avLst>
              <a:gd name="adj" fmla="val 3046"/>
            </a:avLst>
          </a:prstGeom>
          <a:solidFill>
            <a:srgbClr val="111B2E"/>
          </a:solidFill>
          <a:ln w="12700">
            <a:solidFill>
              <a:srgbClr val="111B2E"/>
            </a:solidFill>
            <a:prstDash val="solid"/>
          </a:ln>
        </p:spPr>
      </p:sp>
      <p:sp>
        <p:nvSpPr>
          <p:cNvPr id="9" name="Text 6"/>
          <p:cNvSpPr txBox="1"/>
          <p:nvPr/>
        </p:nvSpPr>
        <p:spPr>
          <a:xfrm>
            <a:off x="1024128" y="1965960"/>
            <a:ext cx="4572000" cy="201168"/>
          </a:xfrm>
          <a:prstGeom prst="rect">
            <a:avLst/>
          </a:prstGeom>
          <a:noFill/>
          <a:ln/>
        </p:spPr>
        <p:txBody>
          <a:bodyPr wrap="square" lIns="0" tIns="0" rIns="0" bIns="0" rtlCol="0" anchor="ctr">
            <a:normAutofit/>
          </a:bodyPr>
          <a:lstStyle/>
          <a:p>
            <a:pPr marL="0" indent="0" algn="l">
              <a:buNone/>
            </a:pPr>
            <a:r>
              <a:rPr lang="en-US" sz="1000" b="1" kern="0" spc="120" dirty="0">
                <a:solidFill>
                  <a:srgbClr val="7DE0D6"/>
                </a:solidFill>
                <a:latin typeface="Aptos" pitchFamily="34" charset="0"/>
                <a:ea typeface="Aptos" pitchFamily="34" charset="-122"/>
                <a:cs typeface="Aptos" pitchFamily="34" charset="-120"/>
              </a:rPr>
              <a:t>SYSTEM PROMPT (simplified)</a:t>
            </a:r>
            <a:endParaRPr lang="en-US" sz="1000" dirty="0"/>
          </a:p>
        </p:txBody>
      </p:sp>
      <p:sp>
        <p:nvSpPr>
          <p:cNvPr id="10" name="Text 7"/>
          <p:cNvSpPr txBox="1"/>
          <p:nvPr/>
        </p:nvSpPr>
        <p:spPr>
          <a:xfrm>
            <a:off x="1024128" y="2395728"/>
            <a:ext cx="5989320" cy="2148840"/>
          </a:xfrm>
          <a:prstGeom prst="rect">
            <a:avLst/>
          </a:prstGeom>
          <a:noFill/>
          <a:ln/>
        </p:spPr>
        <p:txBody>
          <a:bodyPr wrap="square" lIns="0" tIns="0" rIns="0" bIns="0" rtlCol="0" anchor="t">
            <a:normAutofit/>
          </a:bodyPr>
          <a:lstStyle/>
          <a:p>
            <a:pPr marL="0" indent="0" algn="l">
              <a:buNone/>
            </a:pPr>
            <a:r>
              <a:rPr lang="en-US" sz="1900" b="1" dirty="0">
                <a:solidFill>
                  <a:srgbClr val="FFFFFF"/>
                </a:solidFill>
                <a:latin typeface="Aptos" pitchFamily="34" charset="0"/>
                <a:ea typeface="Aptos" pitchFamily="34" charset="-122"/>
                <a:cs typeface="Aptos" pitchFamily="34" charset="-120"/>
              </a:rPr>
              <a:t>“Answer using only the CONTEXT provided.</a:t>
            </a:r>
            <a:endParaRPr lang="en-US" sz="1900" dirty="0"/>
          </a:p>
          <a:p>
            <a:pPr marL="0" indent="0" algn="l">
              <a:buNone/>
            </a:pPr>
            <a:endParaRPr lang="en-US" sz="1900" dirty="0"/>
          </a:p>
          <a:p>
            <a:pPr marL="0" indent="0" algn="l">
              <a:buNone/>
            </a:pPr>
            <a:r>
              <a:rPr lang="en-US" sz="1900" b="1" dirty="0">
                <a:solidFill>
                  <a:srgbClr val="FFFFFF"/>
                </a:solidFill>
                <a:latin typeface="Aptos" pitchFamily="34" charset="0"/>
                <a:ea typeface="Aptos" pitchFamily="34" charset="-122"/>
                <a:cs typeface="Aptos" pitchFamily="34" charset="-120"/>
              </a:rPr>
              <a:t>If the context does not state the answer, say: ‘The document does not specify this information.’</a:t>
            </a:r>
            <a:endParaRPr lang="en-US" sz="1900" dirty="0"/>
          </a:p>
          <a:p>
            <a:pPr marL="0" indent="0" algn="l">
              <a:buNone/>
            </a:pPr>
            <a:endParaRPr lang="en-US" sz="1900" dirty="0"/>
          </a:p>
          <a:p>
            <a:pPr marL="0" indent="0" algn="l">
              <a:buNone/>
            </a:pPr>
            <a:r>
              <a:rPr lang="en-US" sz="1900" b="1" dirty="0">
                <a:solidFill>
                  <a:srgbClr val="FFFFFF"/>
                </a:solidFill>
                <a:latin typeface="Aptos" pitchFamily="34" charset="0"/>
                <a:ea typeface="Aptos" pitchFamily="34" charset="-122"/>
                <a:cs typeface="Aptos" pitchFamily="34" charset="-120"/>
              </a:rPr>
              <a:t>Do not use outside knowledge or guess. Keep the answer concise.”</a:t>
            </a:r>
            <a:endParaRPr lang="en-US" sz="1900" dirty="0"/>
          </a:p>
        </p:txBody>
      </p:sp>
      <p:sp>
        <p:nvSpPr>
          <p:cNvPr id="11" name="Shape 8"/>
          <p:cNvSpPr/>
          <p:nvPr/>
        </p:nvSpPr>
        <p:spPr>
          <a:xfrm>
            <a:off x="1033272" y="4809744"/>
            <a:ext cx="1874520" cy="283464"/>
          </a:xfrm>
          <a:prstGeom prst="roundRect">
            <a:avLst>
              <a:gd name="adj" fmla="val 38710"/>
            </a:avLst>
          </a:prstGeom>
          <a:solidFill>
            <a:srgbClr val="25435A"/>
          </a:solidFill>
          <a:ln w="12700">
            <a:solidFill>
              <a:srgbClr val="25435A">
                <a:alpha val="0"/>
              </a:srgbClr>
            </a:solidFill>
            <a:prstDash val="solid"/>
          </a:ln>
        </p:spPr>
      </p:sp>
      <p:sp>
        <p:nvSpPr>
          <p:cNvPr id="12" name="Text 9"/>
          <p:cNvSpPr txBox="1"/>
          <p:nvPr/>
        </p:nvSpPr>
        <p:spPr>
          <a:xfrm>
            <a:off x="1106424" y="4828032"/>
            <a:ext cx="1728216" cy="23774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MODEL: qwen2.5:3b</a:t>
            </a:r>
            <a:endParaRPr lang="en-US" sz="1000" dirty="0"/>
          </a:p>
        </p:txBody>
      </p:sp>
      <p:sp>
        <p:nvSpPr>
          <p:cNvPr id="13" name="Shape 10"/>
          <p:cNvSpPr/>
          <p:nvPr/>
        </p:nvSpPr>
        <p:spPr>
          <a:xfrm>
            <a:off x="7845552" y="1783080"/>
            <a:ext cx="3401568" cy="1097280"/>
          </a:xfrm>
          <a:prstGeom prst="roundRect">
            <a:avLst>
              <a:gd name="adj" fmla="val 10000"/>
            </a:avLst>
          </a:prstGeom>
          <a:solidFill>
            <a:srgbClr val="E9F8F6"/>
          </a:solidFill>
          <a:ln w="6350">
            <a:solidFill>
              <a:srgbClr val="E1E6ED"/>
            </a:solidFill>
            <a:prstDash val="solid"/>
          </a:ln>
        </p:spPr>
      </p:sp>
      <p:sp>
        <p:nvSpPr>
          <p:cNvPr id="14" name="Shape 11"/>
          <p:cNvSpPr/>
          <p:nvPr/>
        </p:nvSpPr>
        <p:spPr>
          <a:xfrm>
            <a:off x="7845552" y="1783080"/>
            <a:ext cx="64008" cy="1097280"/>
          </a:xfrm>
          <a:prstGeom prst="rect">
            <a:avLst/>
          </a:prstGeom>
          <a:solidFill>
            <a:srgbClr val="0FA99F"/>
          </a:solidFill>
          <a:ln w="12700">
            <a:solidFill>
              <a:srgbClr val="0FA99F">
                <a:alpha val="0"/>
              </a:srgbClr>
            </a:solidFill>
            <a:prstDash val="solid"/>
          </a:ln>
        </p:spPr>
      </p:sp>
      <p:sp>
        <p:nvSpPr>
          <p:cNvPr id="15" name="Text 12"/>
          <p:cNvSpPr txBox="1"/>
          <p:nvPr/>
        </p:nvSpPr>
        <p:spPr>
          <a:xfrm>
            <a:off x="8046720" y="1947672"/>
            <a:ext cx="3035808" cy="274320"/>
          </a:xfrm>
          <a:prstGeom prst="rect">
            <a:avLst/>
          </a:prstGeom>
          <a:noFill/>
          <a:ln/>
        </p:spPr>
        <p:txBody>
          <a:bodyPr wrap="square" lIns="0" tIns="0" rIns="0" bIns="0" rtlCol="0" anchor="ctr">
            <a:normAutofit/>
          </a:bodyPr>
          <a:lstStyle/>
          <a:p>
            <a:pPr marL="0" indent="0" algn="l">
              <a:buNone/>
            </a:pPr>
            <a:r>
              <a:rPr lang="en-US" sz="1500" b="1" dirty="0">
                <a:solidFill>
                  <a:srgbClr val="111B2E"/>
                </a:solidFill>
                <a:latin typeface="Aptos" pitchFamily="34" charset="0"/>
                <a:ea typeface="Aptos" pitchFamily="34" charset="-122"/>
                <a:cs typeface="Aptos" pitchFamily="34" charset="-120"/>
              </a:rPr>
              <a:t>Controlled</a:t>
            </a:r>
            <a:endParaRPr lang="en-US" sz="1500" dirty="0"/>
          </a:p>
        </p:txBody>
      </p:sp>
      <p:sp>
        <p:nvSpPr>
          <p:cNvPr id="16" name="Text 13"/>
          <p:cNvSpPr txBox="1"/>
          <p:nvPr/>
        </p:nvSpPr>
        <p:spPr>
          <a:xfrm>
            <a:off x="8065008" y="2313432"/>
            <a:ext cx="2999232" cy="475488"/>
          </a:xfrm>
          <a:prstGeom prst="rect">
            <a:avLst/>
          </a:prstGeom>
          <a:noFill/>
          <a:ln/>
        </p:spPr>
        <p:txBody>
          <a:bodyPr wrap="square" lIns="0" tIns="0" rIns="0" bIns="0" rtlCol="0" anchor="t">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Same prompt • same model • same top-k</a:t>
            </a:r>
            <a:endParaRPr lang="en-US" sz="1150" dirty="0"/>
          </a:p>
        </p:txBody>
      </p:sp>
      <p:sp>
        <p:nvSpPr>
          <p:cNvPr id="17" name="Shape 14"/>
          <p:cNvSpPr/>
          <p:nvPr/>
        </p:nvSpPr>
        <p:spPr>
          <a:xfrm>
            <a:off x="7845552" y="3090672"/>
            <a:ext cx="3401568" cy="1097280"/>
          </a:xfrm>
          <a:prstGeom prst="roundRect">
            <a:avLst>
              <a:gd name="adj" fmla="val 10000"/>
            </a:avLst>
          </a:prstGeom>
          <a:solidFill>
            <a:srgbClr val="FFF0EE"/>
          </a:solidFill>
          <a:ln w="6350">
            <a:solidFill>
              <a:srgbClr val="E1E6ED"/>
            </a:solidFill>
            <a:prstDash val="solid"/>
          </a:ln>
        </p:spPr>
      </p:sp>
      <p:sp>
        <p:nvSpPr>
          <p:cNvPr id="18" name="Shape 15"/>
          <p:cNvSpPr/>
          <p:nvPr/>
        </p:nvSpPr>
        <p:spPr>
          <a:xfrm>
            <a:off x="7845552" y="3090672"/>
            <a:ext cx="64008" cy="1097280"/>
          </a:xfrm>
          <a:prstGeom prst="rect">
            <a:avLst/>
          </a:prstGeom>
          <a:solidFill>
            <a:srgbClr val="F16B61"/>
          </a:solidFill>
          <a:ln w="12700">
            <a:solidFill>
              <a:srgbClr val="F16B61">
                <a:alpha val="0"/>
              </a:srgbClr>
            </a:solidFill>
            <a:prstDash val="solid"/>
          </a:ln>
        </p:spPr>
      </p:sp>
      <p:sp>
        <p:nvSpPr>
          <p:cNvPr id="19" name="Text 16"/>
          <p:cNvSpPr txBox="1"/>
          <p:nvPr/>
        </p:nvSpPr>
        <p:spPr>
          <a:xfrm>
            <a:off x="8046720" y="3255264"/>
            <a:ext cx="3035808" cy="274320"/>
          </a:xfrm>
          <a:prstGeom prst="rect">
            <a:avLst/>
          </a:prstGeom>
          <a:noFill/>
          <a:ln/>
        </p:spPr>
        <p:txBody>
          <a:bodyPr wrap="square" lIns="0" tIns="0" rIns="0" bIns="0" rtlCol="0" anchor="ctr">
            <a:normAutofit/>
          </a:bodyPr>
          <a:lstStyle/>
          <a:p>
            <a:pPr marL="0" indent="0" algn="l">
              <a:buNone/>
            </a:pPr>
            <a:r>
              <a:rPr lang="en-US" sz="1500" b="1" dirty="0">
                <a:solidFill>
                  <a:srgbClr val="111B2E"/>
                </a:solidFill>
                <a:latin typeface="Aptos" pitchFamily="34" charset="0"/>
                <a:ea typeface="Aptos" pitchFamily="34" charset="-122"/>
                <a:cs typeface="Aptos" pitchFamily="34" charset="-120"/>
              </a:rPr>
              <a:t>Not foolproof</a:t>
            </a:r>
            <a:endParaRPr lang="en-US" sz="1500" dirty="0"/>
          </a:p>
        </p:txBody>
      </p:sp>
      <p:sp>
        <p:nvSpPr>
          <p:cNvPr id="20" name="Text 17"/>
          <p:cNvSpPr txBox="1"/>
          <p:nvPr/>
        </p:nvSpPr>
        <p:spPr>
          <a:xfrm>
            <a:off x="8065008" y="3621024"/>
            <a:ext cx="2999232" cy="475488"/>
          </a:xfrm>
          <a:prstGeom prst="rect">
            <a:avLst/>
          </a:prstGeom>
          <a:noFill/>
          <a:ln/>
        </p:spPr>
        <p:txBody>
          <a:bodyPr wrap="square" lIns="0" tIns="0" rIns="0" bIns="0" rtlCol="0" anchor="t">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Relevant context can still be misread or ignored.</a:t>
            </a:r>
            <a:endParaRPr lang="en-US" sz="1150" dirty="0"/>
          </a:p>
        </p:txBody>
      </p:sp>
      <p:sp>
        <p:nvSpPr>
          <p:cNvPr id="21" name="Text 18"/>
          <p:cNvSpPr txBox="1"/>
          <p:nvPr/>
        </p:nvSpPr>
        <p:spPr>
          <a:xfrm>
            <a:off x="7891272" y="4544568"/>
            <a:ext cx="3255264" cy="493776"/>
          </a:xfrm>
          <a:prstGeom prst="rect">
            <a:avLst/>
          </a:prstGeom>
          <a:noFill/>
          <a:ln/>
        </p:spPr>
        <p:txBody>
          <a:bodyPr wrap="square" lIns="0" tIns="0" rIns="0" bIns="0" rtlCol="0" anchor="t">
            <a:normAutofit/>
          </a:bodyPr>
          <a:lstStyle/>
          <a:p>
            <a:pPr marL="0" indent="0" algn="l">
              <a:buNone/>
            </a:pPr>
            <a:r>
              <a:rPr lang="en-US" sz="1250" b="1" dirty="0">
                <a:solidFill>
                  <a:srgbClr val="111B2E"/>
                </a:solidFill>
                <a:latin typeface="Aptos" pitchFamily="34" charset="0"/>
                <a:ea typeface="Aptos" pitchFamily="34" charset="-122"/>
                <a:cs typeface="Aptos" pitchFamily="34" charset="-120"/>
              </a:rPr>
              <a:t>Output logged: answer, method, pages, scores, and review fields.</a:t>
            </a:r>
            <a:endParaRPr lang="en-US" sz="1250" dirty="0"/>
          </a:p>
        </p:txBody>
      </p:sp>
      <p:sp>
        <p:nvSpPr>
          <p:cNvPr id="25"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10 • EXPERIMENTAL SETUP</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A controlled, small-scale comparison</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One benchmark is run through two retrievers; the same answer generator receives the top-3 pages.</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576682"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841248" y="1700784"/>
            <a:ext cx="10451592" cy="448056"/>
          </a:xfrm>
          <a:prstGeom prst="roundRect">
            <a:avLst>
              <a:gd name="adj" fmla="val 24490"/>
            </a:avLst>
          </a:prstGeom>
          <a:solidFill>
            <a:srgbClr val="FFFFFF"/>
          </a:solidFill>
          <a:ln w="12700">
            <a:solidFill>
              <a:srgbClr val="E1E6ED"/>
            </a:solidFill>
            <a:prstDash val="solid"/>
          </a:ln>
        </p:spPr>
      </p:sp>
      <p:sp>
        <p:nvSpPr>
          <p:cNvPr id="9" name="Text 6"/>
          <p:cNvSpPr txBox="1"/>
          <p:nvPr/>
        </p:nvSpPr>
        <p:spPr>
          <a:xfrm>
            <a:off x="1024128" y="1773936"/>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Questions</a:t>
            </a:r>
            <a:endParaRPr lang="en-US" sz="1400" dirty="0"/>
          </a:p>
        </p:txBody>
      </p:sp>
      <p:sp>
        <p:nvSpPr>
          <p:cNvPr id="10" name="Text 7"/>
          <p:cNvSpPr txBox="1"/>
          <p:nvPr/>
        </p:nvSpPr>
        <p:spPr>
          <a:xfrm>
            <a:off x="4041648" y="1773936"/>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22 benchmark questions</a:t>
            </a:r>
            <a:endParaRPr lang="en-US" sz="1350" dirty="0"/>
          </a:p>
        </p:txBody>
      </p:sp>
      <p:sp>
        <p:nvSpPr>
          <p:cNvPr id="11" name="Shape 8"/>
          <p:cNvSpPr/>
          <p:nvPr/>
        </p:nvSpPr>
        <p:spPr>
          <a:xfrm>
            <a:off x="841248" y="2267712"/>
            <a:ext cx="10451592" cy="448056"/>
          </a:xfrm>
          <a:prstGeom prst="roundRect">
            <a:avLst>
              <a:gd name="adj" fmla="val 24490"/>
            </a:avLst>
          </a:prstGeom>
          <a:solidFill>
            <a:srgbClr val="F0F3F7"/>
          </a:solidFill>
          <a:ln w="12700">
            <a:solidFill>
              <a:srgbClr val="F0F3F7"/>
            </a:solidFill>
            <a:prstDash val="solid"/>
          </a:ln>
        </p:spPr>
      </p:sp>
      <p:sp>
        <p:nvSpPr>
          <p:cNvPr id="12" name="Text 9"/>
          <p:cNvSpPr txBox="1"/>
          <p:nvPr/>
        </p:nvSpPr>
        <p:spPr>
          <a:xfrm>
            <a:off x="1024128" y="2340864"/>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Methods</a:t>
            </a:r>
            <a:endParaRPr lang="en-US" sz="1400" dirty="0"/>
          </a:p>
        </p:txBody>
      </p:sp>
      <p:sp>
        <p:nvSpPr>
          <p:cNvPr id="13" name="Text 10"/>
          <p:cNvSpPr txBox="1"/>
          <p:nvPr/>
        </p:nvSpPr>
        <p:spPr>
          <a:xfrm>
            <a:off x="4041648" y="2340864"/>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TF-IDF + semantic embeddings</a:t>
            </a:r>
            <a:endParaRPr lang="en-US" sz="1350" dirty="0"/>
          </a:p>
        </p:txBody>
      </p:sp>
      <p:sp>
        <p:nvSpPr>
          <p:cNvPr id="14" name="Shape 11"/>
          <p:cNvSpPr/>
          <p:nvPr/>
        </p:nvSpPr>
        <p:spPr>
          <a:xfrm>
            <a:off x="841248" y="2834640"/>
            <a:ext cx="10451592" cy="448056"/>
          </a:xfrm>
          <a:prstGeom prst="roundRect">
            <a:avLst>
              <a:gd name="adj" fmla="val 24490"/>
            </a:avLst>
          </a:prstGeom>
          <a:solidFill>
            <a:srgbClr val="FFFFFF"/>
          </a:solidFill>
          <a:ln w="12700">
            <a:solidFill>
              <a:srgbClr val="E1E6ED"/>
            </a:solidFill>
            <a:prstDash val="solid"/>
          </a:ln>
        </p:spPr>
      </p:sp>
      <p:sp>
        <p:nvSpPr>
          <p:cNvPr id="15" name="Text 12"/>
          <p:cNvSpPr txBox="1"/>
          <p:nvPr/>
        </p:nvSpPr>
        <p:spPr>
          <a:xfrm>
            <a:off x="1024128" y="2907792"/>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Retrieved per question</a:t>
            </a:r>
            <a:endParaRPr lang="en-US" sz="1400" dirty="0"/>
          </a:p>
        </p:txBody>
      </p:sp>
      <p:sp>
        <p:nvSpPr>
          <p:cNvPr id="16" name="Text 13"/>
          <p:cNvSpPr txBox="1"/>
          <p:nvPr/>
        </p:nvSpPr>
        <p:spPr>
          <a:xfrm>
            <a:off x="4041648" y="2907792"/>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Top 3 pages (k = 3)</a:t>
            </a:r>
            <a:endParaRPr lang="en-US" sz="1350" dirty="0"/>
          </a:p>
        </p:txBody>
      </p:sp>
      <p:sp>
        <p:nvSpPr>
          <p:cNvPr id="17" name="Shape 14"/>
          <p:cNvSpPr/>
          <p:nvPr/>
        </p:nvSpPr>
        <p:spPr>
          <a:xfrm>
            <a:off x="841248" y="3401568"/>
            <a:ext cx="10451592" cy="448056"/>
          </a:xfrm>
          <a:prstGeom prst="roundRect">
            <a:avLst>
              <a:gd name="adj" fmla="val 24490"/>
            </a:avLst>
          </a:prstGeom>
          <a:solidFill>
            <a:srgbClr val="F0F3F7"/>
          </a:solidFill>
          <a:ln w="12700">
            <a:solidFill>
              <a:srgbClr val="F0F3F7"/>
            </a:solidFill>
            <a:prstDash val="solid"/>
          </a:ln>
        </p:spPr>
      </p:sp>
      <p:sp>
        <p:nvSpPr>
          <p:cNvPr id="18" name="Text 15"/>
          <p:cNvSpPr txBox="1"/>
          <p:nvPr/>
        </p:nvSpPr>
        <p:spPr>
          <a:xfrm>
            <a:off x="1024128" y="3474720"/>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Generator</a:t>
            </a:r>
            <a:endParaRPr lang="en-US" sz="1400" dirty="0"/>
          </a:p>
        </p:txBody>
      </p:sp>
      <p:sp>
        <p:nvSpPr>
          <p:cNvPr id="19" name="Text 16"/>
          <p:cNvSpPr txBox="1"/>
          <p:nvPr/>
        </p:nvSpPr>
        <p:spPr>
          <a:xfrm>
            <a:off x="4041648" y="3474720"/>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Ollama / qwen2.5:3b</a:t>
            </a:r>
            <a:endParaRPr lang="en-US" sz="1350" dirty="0"/>
          </a:p>
        </p:txBody>
      </p:sp>
      <p:sp>
        <p:nvSpPr>
          <p:cNvPr id="20" name="Shape 17"/>
          <p:cNvSpPr/>
          <p:nvPr/>
        </p:nvSpPr>
        <p:spPr>
          <a:xfrm>
            <a:off x="841248" y="3968496"/>
            <a:ext cx="10451592" cy="448056"/>
          </a:xfrm>
          <a:prstGeom prst="roundRect">
            <a:avLst>
              <a:gd name="adj" fmla="val 24490"/>
            </a:avLst>
          </a:prstGeom>
          <a:solidFill>
            <a:srgbClr val="FFFFFF"/>
          </a:solidFill>
          <a:ln w="12700">
            <a:solidFill>
              <a:srgbClr val="E1E6ED"/>
            </a:solidFill>
            <a:prstDash val="solid"/>
          </a:ln>
        </p:spPr>
      </p:sp>
      <p:sp>
        <p:nvSpPr>
          <p:cNvPr id="21" name="Text 18"/>
          <p:cNvSpPr txBox="1"/>
          <p:nvPr/>
        </p:nvSpPr>
        <p:spPr>
          <a:xfrm>
            <a:off x="1024128" y="4041648"/>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Per-run output</a:t>
            </a:r>
            <a:endParaRPr lang="en-US" sz="1400" dirty="0"/>
          </a:p>
        </p:txBody>
      </p:sp>
      <p:sp>
        <p:nvSpPr>
          <p:cNvPr id="22" name="Text 19"/>
          <p:cNvSpPr txBox="1"/>
          <p:nvPr/>
        </p:nvSpPr>
        <p:spPr>
          <a:xfrm>
            <a:off x="4041648" y="4041648"/>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44 rows: 22 × 2 methods</a:t>
            </a:r>
            <a:endParaRPr lang="en-US" sz="1350" dirty="0"/>
          </a:p>
        </p:txBody>
      </p:sp>
      <p:sp>
        <p:nvSpPr>
          <p:cNvPr id="23" name="Shape 20"/>
          <p:cNvSpPr/>
          <p:nvPr/>
        </p:nvSpPr>
        <p:spPr>
          <a:xfrm>
            <a:off x="841248" y="4535424"/>
            <a:ext cx="10451592" cy="448056"/>
          </a:xfrm>
          <a:prstGeom prst="roundRect">
            <a:avLst>
              <a:gd name="adj" fmla="val 24490"/>
            </a:avLst>
          </a:prstGeom>
          <a:solidFill>
            <a:srgbClr val="F0F3F7"/>
          </a:solidFill>
          <a:ln w="12700">
            <a:solidFill>
              <a:srgbClr val="F0F3F7"/>
            </a:solidFill>
            <a:prstDash val="solid"/>
          </a:ln>
        </p:spPr>
      </p:sp>
      <p:sp>
        <p:nvSpPr>
          <p:cNvPr id="24" name="Text 21"/>
          <p:cNvSpPr txBox="1"/>
          <p:nvPr/>
        </p:nvSpPr>
        <p:spPr>
          <a:xfrm>
            <a:off x="1024128" y="4608576"/>
            <a:ext cx="2880360" cy="256032"/>
          </a:xfrm>
          <a:prstGeom prst="rect">
            <a:avLst/>
          </a:prstGeom>
          <a:noFill/>
          <a:ln/>
        </p:spPr>
        <p:txBody>
          <a:bodyPr wrap="square" lIns="0" tIns="0" rIns="0" bIns="0" rtlCol="0" anchor="ctr">
            <a:normAutofit/>
          </a:bodyPr>
          <a:lstStyle/>
          <a:p>
            <a:pPr marL="0" indent="0" algn="l">
              <a:buNone/>
            </a:pPr>
            <a:r>
              <a:rPr lang="en-US" sz="1400" b="1" dirty="0">
                <a:solidFill>
                  <a:srgbClr val="111B2E"/>
                </a:solidFill>
                <a:latin typeface="Aptos" pitchFamily="34" charset="0"/>
                <a:ea typeface="Aptos" pitchFamily="34" charset="-122"/>
                <a:cs typeface="Aptos" pitchFamily="34" charset="-120"/>
              </a:rPr>
              <a:t>Human review</a:t>
            </a:r>
            <a:endParaRPr lang="en-US" sz="1400" dirty="0"/>
          </a:p>
        </p:txBody>
      </p:sp>
      <p:sp>
        <p:nvSpPr>
          <p:cNvPr id="25" name="Text 22"/>
          <p:cNvSpPr txBox="1"/>
          <p:nvPr/>
        </p:nvSpPr>
        <p:spPr>
          <a:xfrm>
            <a:off x="4041648" y="4608576"/>
            <a:ext cx="6949440" cy="256032"/>
          </a:xfrm>
          <a:prstGeom prst="rect">
            <a:avLst/>
          </a:prstGeom>
          <a:noFill/>
          <a:ln/>
        </p:spPr>
        <p:txBody>
          <a:bodyPr wrap="square" lIns="0" tIns="0" rIns="0" bIns="0" rtlCol="0" anchor="ctr">
            <a:normAutofit/>
          </a:bodyPr>
          <a:lstStyle/>
          <a:p>
            <a:pPr marL="0" indent="0" algn="l">
              <a:buNone/>
            </a:pPr>
            <a:r>
              <a:rPr lang="en-US" sz="1350" dirty="0">
                <a:solidFill>
                  <a:srgbClr val="5E6A7C"/>
                </a:solidFill>
                <a:latin typeface="Aptos" pitchFamily="34" charset="0"/>
                <a:ea typeface="Aptos" pitchFamily="34" charset="-122"/>
                <a:cs typeface="Aptos" pitchFamily="34" charset="-120"/>
              </a:rPr>
              <a:t>answer_correct + hallucination</a:t>
            </a:r>
            <a:endParaRPr lang="en-US" sz="1350" dirty="0"/>
          </a:p>
        </p:txBody>
      </p:sp>
      <p:sp>
        <p:nvSpPr>
          <p:cNvPr id="26" name="Text 23"/>
          <p:cNvSpPr txBox="1"/>
          <p:nvPr/>
        </p:nvSpPr>
        <p:spPr>
          <a:xfrm>
            <a:off x="868680" y="5394960"/>
            <a:ext cx="10561320" cy="256032"/>
          </a:xfrm>
          <a:prstGeom prst="rect">
            <a:avLst/>
          </a:prstGeom>
          <a:noFill/>
          <a:ln/>
        </p:spPr>
        <p:txBody>
          <a:bodyPr wrap="square" lIns="0" tIns="0" rIns="0" bIns="0" rtlCol="0" anchor="ctr">
            <a:normAutofit/>
          </a:bodyPr>
          <a:lstStyle/>
          <a:p>
            <a:pPr marL="0" indent="0" algn="l">
              <a:buNone/>
            </a:pPr>
            <a:r>
              <a:rPr lang="en-US" sz="1130" i="1" dirty="0">
                <a:solidFill>
                  <a:srgbClr val="7F8A9A"/>
                </a:solidFill>
                <a:latin typeface="Aptos" pitchFamily="34" charset="0"/>
                <a:ea typeface="Aptos" pitchFamily="34" charset="-122"/>
                <a:cs typeface="Aptos" pitchFamily="34" charset="-120"/>
              </a:rPr>
              <a:t>Key files: run_experiment.py • src/model.py • src/preprocessing.py • src/evaluation.py</a:t>
            </a:r>
            <a:endParaRPr lang="en-US" sz="113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11 • EVALUATION</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We measure retrieval and generation separately</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This separation is the core of the assignment: a good answer and a good retrieval step are different things.</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629107"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49808" y="1719072"/>
            <a:ext cx="3383280" cy="1353312"/>
          </a:xfrm>
          <a:prstGeom prst="roundRect">
            <a:avLst>
              <a:gd name="adj" fmla="val 8108"/>
            </a:avLst>
          </a:prstGeom>
          <a:solidFill>
            <a:srgbClr val="EEF1FF"/>
          </a:solidFill>
          <a:ln w="6350">
            <a:solidFill>
              <a:srgbClr val="E1E6ED"/>
            </a:solidFill>
            <a:prstDash val="solid"/>
          </a:ln>
        </p:spPr>
      </p:sp>
      <p:sp>
        <p:nvSpPr>
          <p:cNvPr id="9" name="Shape 6"/>
          <p:cNvSpPr/>
          <p:nvPr/>
        </p:nvSpPr>
        <p:spPr>
          <a:xfrm>
            <a:off x="749808" y="1719072"/>
            <a:ext cx="64008" cy="1353312"/>
          </a:xfrm>
          <a:prstGeom prst="rect">
            <a:avLst/>
          </a:prstGeom>
          <a:solidFill>
            <a:srgbClr val="4E6BFF"/>
          </a:solidFill>
          <a:ln w="12700">
            <a:solidFill>
              <a:srgbClr val="4E6BFF">
                <a:alpha val="0"/>
              </a:srgbClr>
            </a:solidFill>
            <a:prstDash val="solid"/>
          </a:ln>
        </p:spPr>
      </p:sp>
      <p:sp>
        <p:nvSpPr>
          <p:cNvPr id="10" name="Text 7"/>
          <p:cNvSpPr txBox="1"/>
          <p:nvPr/>
        </p:nvSpPr>
        <p:spPr>
          <a:xfrm>
            <a:off x="950976" y="1883664"/>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Recall@K</a:t>
            </a:r>
            <a:endParaRPr lang="en-US" sz="1550" dirty="0"/>
          </a:p>
        </p:txBody>
      </p:sp>
      <p:sp>
        <p:nvSpPr>
          <p:cNvPr id="11" name="Text 8"/>
          <p:cNvSpPr txBox="1"/>
          <p:nvPr/>
        </p:nvSpPr>
        <p:spPr>
          <a:xfrm>
            <a:off x="969264" y="2249424"/>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Fraction of relevant reference pages retrieved in top K.</a:t>
            </a:r>
            <a:endParaRPr lang="en-US" sz="1250" dirty="0"/>
          </a:p>
        </p:txBody>
      </p:sp>
      <p:sp>
        <p:nvSpPr>
          <p:cNvPr id="12" name="Shape 9"/>
          <p:cNvSpPr/>
          <p:nvPr/>
        </p:nvSpPr>
        <p:spPr>
          <a:xfrm>
            <a:off x="4425696" y="1719072"/>
            <a:ext cx="3383280" cy="1353312"/>
          </a:xfrm>
          <a:prstGeom prst="roundRect">
            <a:avLst>
              <a:gd name="adj" fmla="val 8108"/>
            </a:avLst>
          </a:prstGeom>
          <a:solidFill>
            <a:srgbClr val="E9F8F6"/>
          </a:solidFill>
          <a:ln w="6350">
            <a:solidFill>
              <a:srgbClr val="E1E6ED"/>
            </a:solidFill>
            <a:prstDash val="solid"/>
          </a:ln>
        </p:spPr>
      </p:sp>
      <p:sp>
        <p:nvSpPr>
          <p:cNvPr id="13" name="Shape 10"/>
          <p:cNvSpPr/>
          <p:nvPr/>
        </p:nvSpPr>
        <p:spPr>
          <a:xfrm>
            <a:off x="4425696" y="1719072"/>
            <a:ext cx="64008" cy="1353312"/>
          </a:xfrm>
          <a:prstGeom prst="rect">
            <a:avLst/>
          </a:prstGeom>
          <a:solidFill>
            <a:srgbClr val="0FA99F"/>
          </a:solidFill>
          <a:ln w="12700">
            <a:solidFill>
              <a:srgbClr val="0FA99F">
                <a:alpha val="0"/>
              </a:srgbClr>
            </a:solidFill>
            <a:prstDash val="solid"/>
          </a:ln>
        </p:spPr>
      </p:sp>
      <p:sp>
        <p:nvSpPr>
          <p:cNvPr id="14" name="Text 11"/>
          <p:cNvSpPr txBox="1"/>
          <p:nvPr/>
        </p:nvSpPr>
        <p:spPr>
          <a:xfrm>
            <a:off x="4626864" y="1883664"/>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MRR@K</a:t>
            </a:r>
            <a:endParaRPr lang="en-US" sz="1550" dirty="0"/>
          </a:p>
        </p:txBody>
      </p:sp>
      <p:sp>
        <p:nvSpPr>
          <p:cNvPr id="15" name="Text 12"/>
          <p:cNvSpPr txBox="1"/>
          <p:nvPr/>
        </p:nvSpPr>
        <p:spPr>
          <a:xfrm>
            <a:off x="4645152" y="2249424"/>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Rewards a relevant page ranked near the top.</a:t>
            </a:r>
            <a:endParaRPr lang="en-US" sz="1250" dirty="0"/>
          </a:p>
        </p:txBody>
      </p:sp>
      <p:sp>
        <p:nvSpPr>
          <p:cNvPr id="16" name="Shape 13"/>
          <p:cNvSpPr/>
          <p:nvPr/>
        </p:nvSpPr>
        <p:spPr>
          <a:xfrm>
            <a:off x="8101584" y="1719072"/>
            <a:ext cx="3383280" cy="1353312"/>
          </a:xfrm>
          <a:prstGeom prst="roundRect">
            <a:avLst>
              <a:gd name="adj" fmla="val 8108"/>
            </a:avLst>
          </a:prstGeom>
          <a:solidFill>
            <a:srgbClr val="FFF7E5"/>
          </a:solidFill>
          <a:ln w="6350">
            <a:solidFill>
              <a:srgbClr val="E1E6ED"/>
            </a:solidFill>
            <a:prstDash val="solid"/>
          </a:ln>
        </p:spPr>
      </p:sp>
      <p:sp>
        <p:nvSpPr>
          <p:cNvPr id="17" name="Shape 14"/>
          <p:cNvSpPr/>
          <p:nvPr/>
        </p:nvSpPr>
        <p:spPr>
          <a:xfrm>
            <a:off x="8101584" y="1719072"/>
            <a:ext cx="64008" cy="1353312"/>
          </a:xfrm>
          <a:prstGeom prst="rect">
            <a:avLst/>
          </a:prstGeom>
          <a:solidFill>
            <a:srgbClr val="E9AE3C"/>
          </a:solidFill>
          <a:ln w="12700">
            <a:solidFill>
              <a:srgbClr val="E9AE3C">
                <a:alpha val="0"/>
              </a:srgbClr>
            </a:solidFill>
            <a:prstDash val="solid"/>
          </a:ln>
        </p:spPr>
      </p:sp>
      <p:sp>
        <p:nvSpPr>
          <p:cNvPr id="18" name="Text 15"/>
          <p:cNvSpPr txBox="1"/>
          <p:nvPr/>
        </p:nvSpPr>
        <p:spPr>
          <a:xfrm>
            <a:off x="8302752" y="1883664"/>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Answer accuracy</a:t>
            </a:r>
            <a:endParaRPr lang="en-US" sz="1550" dirty="0"/>
          </a:p>
        </p:txBody>
      </p:sp>
      <p:sp>
        <p:nvSpPr>
          <p:cNvPr id="19" name="Text 16"/>
          <p:cNvSpPr txBox="1"/>
          <p:nvPr/>
        </p:nvSpPr>
        <p:spPr>
          <a:xfrm>
            <a:off x="8321040" y="2249424"/>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Correct answers ÷ reviewed answers.</a:t>
            </a:r>
            <a:endParaRPr lang="en-US" sz="1250" dirty="0"/>
          </a:p>
        </p:txBody>
      </p:sp>
      <p:sp>
        <p:nvSpPr>
          <p:cNvPr id="20" name="Shape 17"/>
          <p:cNvSpPr/>
          <p:nvPr/>
        </p:nvSpPr>
        <p:spPr>
          <a:xfrm>
            <a:off x="749808" y="3346704"/>
            <a:ext cx="3383280" cy="1353312"/>
          </a:xfrm>
          <a:prstGeom prst="roundRect">
            <a:avLst>
              <a:gd name="adj" fmla="val 8108"/>
            </a:avLst>
          </a:prstGeom>
          <a:solidFill>
            <a:srgbClr val="FFF0EE"/>
          </a:solidFill>
          <a:ln w="6350">
            <a:solidFill>
              <a:srgbClr val="E1E6ED"/>
            </a:solidFill>
            <a:prstDash val="solid"/>
          </a:ln>
        </p:spPr>
      </p:sp>
      <p:sp>
        <p:nvSpPr>
          <p:cNvPr id="21" name="Shape 18"/>
          <p:cNvSpPr/>
          <p:nvPr/>
        </p:nvSpPr>
        <p:spPr>
          <a:xfrm>
            <a:off x="749808" y="3346704"/>
            <a:ext cx="64008" cy="1353312"/>
          </a:xfrm>
          <a:prstGeom prst="rect">
            <a:avLst/>
          </a:prstGeom>
          <a:solidFill>
            <a:srgbClr val="F16B61"/>
          </a:solidFill>
          <a:ln w="12700">
            <a:solidFill>
              <a:srgbClr val="F16B61">
                <a:alpha val="0"/>
              </a:srgbClr>
            </a:solidFill>
            <a:prstDash val="solid"/>
          </a:ln>
        </p:spPr>
      </p:sp>
      <p:sp>
        <p:nvSpPr>
          <p:cNvPr id="22" name="Text 19"/>
          <p:cNvSpPr txBox="1"/>
          <p:nvPr/>
        </p:nvSpPr>
        <p:spPr>
          <a:xfrm>
            <a:off x="950976" y="3511296"/>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Hallucination rate</a:t>
            </a:r>
            <a:endParaRPr lang="en-US" sz="1550" dirty="0"/>
          </a:p>
        </p:txBody>
      </p:sp>
      <p:sp>
        <p:nvSpPr>
          <p:cNvPr id="23" name="Text 20"/>
          <p:cNvSpPr txBox="1"/>
          <p:nvPr/>
        </p:nvSpPr>
        <p:spPr>
          <a:xfrm>
            <a:off x="969264" y="3877056"/>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Answers with unsupported claims ÷ reviewed answers.</a:t>
            </a:r>
            <a:endParaRPr lang="en-US" sz="1250" dirty="0"/>
          </a:p>
        </p:txBody>
      </p:sp>
      <p:sp>
        <p:nvSpPr>
          <p:cNvPr id="24" name="Shape 21"/>
          <p:cNvSpPr/>
          <p:nvPr/>
        </p:nvSpPr>
        <p:spPr>
          <a:xfrm>
            <a:off x="4425696" y="3346704"/>
            <a:ext cx="3383280" cy="1353312"/>
          </a:xfrm>
          <a:prstGeom prst="roundRect">
            <a:avLst>
              <a:gd name="adj" fmla="val 8108"/>
            </a:avLst>
          </a:prstGeom>
          <a:solidFill>
            <a:srgbClr val="EEF1FF"/>
          </a:solidFill>
          <a:ln w="6350">
            <a:solidFill>
              <a:srgbClr val="E1E6ED"/>
            </a:solidFill>
            <a:prstDash val="solid"/>
          </a:ln>
        </p:spPr>
      </p:sp>
      <p:sp>
        <p:nvSpPr>
          <p:cNvPr id="25" name="Shape 22"/>
          <p:cNvSpPr/>
          <p:nvPr/>
        </p:nvSpPr>
        <p:spPr>
          <a:xfrm>
            <a:off x="4425696" y="3346704"/>
            <a:ext cx="64008" cy="1353312"/>
          </a:xfrm>
          <a:prstGeom prst="rect">
            <a:avLst/>
          </a:prstGeom>
          <a:solidFill>
            <a:srgbClr val="4E6BFF"/>
          </a:solidFill>
          <a:ln w="12700">
            <a:solidFill>
              <a:srgbClr val="4E6BFF">
                <a:alpha val="0"/>
              </a:srgbClr>
            </a:solidFill>
            <a:prstDash val="solid"/>
          </a:ln>
        </p:spPr>
      </p:sp>
      <p:sp>
        <p:nvSpPr>
          <p:cNvPr id="26" name="Text 23"/>
          <p:cNvSpPr txBox="1"/>
          <p:nvPr/>
        </p:nvSpPr>
        <p:spPr>
          <a:xfrm>
            <a:off x="4626864" y="3511296"/>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Retrieval failure</a:t>
            </a:r>
            <a:endParaRPr lang="en-US" sz="1550" dirty="0"/>
          </a:p>
        </p:txBody>
      </p:sp>
      <p:sp>
        <p:nvSpPr>
          <p:cNvPr id="27" name="Text 24"/>
          <p:cNvSpPr txBox="1"/>
          <p:nvPr/>
        </p:nvSpPr>
        <p:spPr>
          <a:xfrm>
            <a:off x="4645152" y="3877056"/>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No expected page found in top K.</a:t>
            </a:r>
            <a:endParaRPr lang="en-US" sz="1250" dirty="0"/>
          </a:p>
        </p:txBody>
      </p:sp>
      <p:sp>
        <p:nvSpPr>
          <p:cNvPr id="28" name="Shape 25"/>
          <p:cNvSpPr/>
          <p:nvPr/>
        </p:nvSpPr>
        <p:spPr>
          <a:xfrm>
            <a:off x="8101584" y="3346704"/>
            <a:ext cx="3383280" cy="1353312"/>
          </a:xfrm>
          <a:prstGeom prst="roundRect">
            <a:avLst>
              <a:gd name="adj" fmla="val 8108"/>
            </a:avLst>
          </a:prstGeom>
          <a:solidFill>
            <a:srgbClr val="E9F8F6"/>
          </a:solidFill>
          <a:ln w="6350">
            <a:solidFill>
              <a:srgbClr val="E1E6ED"/>
            </a:solidFill>
            <a:prstDash val="solid"/>
          </a:ln>
        </p:spPr>
      </p:sp>
      <p:sp>
        <p:nvSpPr>
          <p:cNvPr id="29" name="Shape 26"/>
          <p:cNvSpPr/>
          <p:nvPr/>
        </p:nvSpPr>
        <p:spPr>
          <a:xfrm>
            <a:off x="8101584" y="3346704"/>
            <a:ext cx="64008" cy="1353312"/>
          </a:xfrm>
          <a:prstGeom prst="rect">
            <a:avLst/>
          </a:prstGeom>
          <a:solidFill>
            <a:srgbClr val="0FA99F"/>
          </a:solidFill>
          <a:ln w="12700">
            <a:solidFill>
              <a:srgbClr val="0FA99F">
                <a:alpha val="0"/>
              </a:srgbClr>
            </a:solidFill>
            <a:prstDash val="solid"/>
          </a:ln>
        </p:spPr>
      </p:sp>
      <p:sp>
        <p:nvSpPr>
          <p:cNvPr id="30" name="Text 27"/>
          <p:cNvSpPr txBox="1"/>
          <p:nvPr/>
        </p:nvSpPr>
        <p:spPr>
          <a:xfrm>
            <a:off x="8302752" y="3511296"/>
            <a:ext cx="3017520"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Generation failure</a:t>
            </a:r>
            <a:endParaRPr lang="en-US" sz="1550" dirty="0"/>
          </a:p>
        </p:txBody>
      </p:sp>
      <p:sp>
        <p:nvSpPr>
          <p:cNvPr id="31" name="Text 28"/>
          <p:cNvSpPr txBox="1"/>
          <p:nvPr/>
        </p:nvSpPr>
        <p:spPr>
          <a:xfrm>
            <a:off x="8321040" y="3877056"/>
            <a:ext cx="2980944" cy="731520"/>
          </a:xfrm>
          <a:prstGeom prst="rect">
            <a:avLst/>
          </a:prstGeom>
          <a:noFill/>
          <a:ln/>
        </p:spPr>
        <p:txBody>
          <a:bodyPr wrap="square" lIns="0" tIns="0" rIns="0" bIns="0" rtlCol="0" anchor="t">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Incorrect answer despite retrieval success.</a:t>
            </a:r>
            <a:endParaRPr lang="en-US" sz="1250" dirty="0"/>
          </a:p>
        </p:txBody>
      </p:sp>
      <p:sp>
        <p:nvSpPr>
          <p:cNvPr id="32" name="Shape 29"/>
          <p:cNvSpPr/>
          <p:nvPr/>
        </p:nvSpPr>
        <p:spPr>
          <a:xfrm>
            <a:off x="768096" y="5239512"/>
            <a:ext cx="10698480" cy="438912"/>
          </a:xfrm>
          <a:prstGeom prst="roundRect">
            <a:avLst>
              <a:gd name="adj" fmla="val 25000"/>
            </a:avLst>
          </a:prstGeom>
          <a:solidFill>
            <a:srgbClr val="111B2E"/>
          </a:solidFill>
          <a:ln w="12700">
            <a:solidFill>
              <a:srgbClr val="111B2E"/>
            </a:solidFill>
            <a:prstDash val="solid"/>
          </a:ln>
        </p:spPr>
      </p:sp>
      <p:sp>
        <p:nvSpPr>
          <p:cNvPr id="33" name="Text 30"/>
          <p:cNvSpPr txBox="1"/>
          <p:nvPr/>
        </p:nvSpPr>
        <p:spPr>
          <a:xfrm>
            <a:off x="960120" y="5340096"/>
            <a:ext cx="10287000" cy="219456"/>
          </a:xfrm>
          <a:prstGeom prst="rect">
            <a:avLst/>
          </a:prstGeom>
          <a:noFill/>
          <a:ln/>
        </p:spPr>
        <p:txBody>
          <a:bodyPr wrap="square" lIns="0" tIns="0" rIns="0" bIns="0"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A retrieval miss and a generation mistake require different fixes.</a:t>
            </a:r>
            <a:endParaRPr lang="en-US" sz="145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12 • RESULTS</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What did the uploaded comparison table report?</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Top-k = 3 • 21 questions evaluated for retrieval • 22 answers manually reviewed per method.</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681533"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13232" y="1664208"/>
            <a:ext cx="7040880" cy="438912"/>
          </a:xfrm>
          <a:prstGeom prst="rect">
            <a:avLst/>
          </a:prstGeom>
          <a:solidFill>
            <a:srgbClr val="111B2E"/>
          </a:solidFill>
          <a:ln w="12700">
            <a:solidFill>
              <a:srgbClr val="111B2E"/>
            </a:solidFill>
            <a:prstDash val="solid"/>
          </a:ln>
        </p:spPr>
      </p:sp>
      <p:sp>
        <p:nvSpPr>
          <p:cNvPr id="9" name="Text 6"/>
          <p:cNvSpPr txBox="1"/>
          <p:nvPr/>
        </p:nvSpPr>
        <p:spPr>
          <a:xfrm>
            <a:off x="877824" y="1755648"/>
            <a:ext cx="2926080" cy="219456"/>
          </a:xfrm>
          <a:prstGeom prst="rect">
            <a:avLst/>
          </a:prstGeom>
          <a:noFill/>
          <a:ln/>
        </p:spPr>
        <p:txBody>
          <a:bodyPr wrap="square" lIns="0" tIns="0" rIns="0" bIns="0" rtlCol="0" anchor="ctr">
            <a:normAutofit/>
          </a:bodyPr>
          <a:lstStyle/>
          <a:p>
            <a:pPr marL="0" indent="0" algn="l">
              <a:buNone/>
            </a:pPr>
            <a:r>
              <a:rPr lang="en-US" sz="1000" b="1" dirty="0">
                <a:solidFill>
                  <a:srgbClr val="C7D5E7"/>
                </a:solidFill>
                <a:latin typeface="Aptos" pitchFamily="34" charset="0"/>
                <a:ea typeface="Aptos" pitchFamily="34" charset="-122"/>
                <a:cs typeface="Aptos" pitchFamily="34" charset="-120"/>
              </a:rPr>
              <a:t>METRIC</a:t>
            </a:r>
            <a:endParaRPr lang="en-US" sz="1000" dirty="0"/>
          </a:p>
        </p:txBody>
      </p:sp>
      <p:sp>
        <p:nvSpPr>
          <p:cNvPr id="10" name="Text 7"/>
          <p:cNvSpPr txBox="1"/>
          <p:nvPr/>
        </p:nvSpPr>
        <p:spPr>
          <a:xfrm>
            <a:off x="3822192" y="1755648"/>
            <a:ext cx="1965960" cy="219456"/>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TF-IDF</a:t>
            </a:r>
            <a:endParaRPr lang="en-US" sz="1100" dirty="0"/>
          </a:p>
        </p:txBody>
      </p:sp>
      <p:sp>
        <p:nvSpPr>
          <p:cNvPr id="11" name="Text 8"/>
          <p:cNvSpPr txBox="1"/>
          <p:nvPr/>
        </p:nvSpPr>
        <p:spPr>
          <a:xfrm>
            <a:off x="5788152" y="1755648"/>
            <a:ext cx="1965960" cy="219456"/>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SEMANTIC</a:t>
            </a:r>
            <a:endParaRPr lang="en-US" sz="1100" dirty="0"/>
          </a:p>
        </p:txBody>
      </p:sp>
      <p:sp>
        <p:nvSpPr>
          <p:cNvPr id="12" name="Shape 9"/>
          <p:cNvSpPr/>
          <p:nvPr/>
        </p:nvSpPr>
        <p:spPr>
          <a:xfrm>
            <a:off x="713232" y="2103120"/>
            <a:ext cx="7040880" cy="457200"/>
          </a:xfrm>
          <a:prstGeom prst="rect">
            <a:avLst/>
          </a:prstGeom>
          <a:solidFill>
            <a:srgbClr val="FFFFFF"/>
          </a:solidFill>
          <a:ln w="12700">
            <a:solidFill>
              <a:srgbClr val="E1E6ED"/>
            </a:solidFill>
            <a:prstDash val="solid"/>
          </a:ln>
        </p:spPr>
      </p:sp>
      <p:sp>
        <p:nvSpPr>
          <p:cNvPr id="13" name="Text 10"/>
          <p:cNvSpPr txBox="1"/>
          <p:nvPr/>
        </p:nvSpPr>
        <p:spPr>
          <a:xfrm>
            <a:off x="877824" y="2203704"/>
            <a:ext cx="2880360" cy="237744"/>
          </a:xfrm>
          <a:prstGeom prst="rect">
            <a:avLst/>
          </a:prstGeom>
          <a:noFill/>
          <a:ln/>
        </p:spPr>
        <p:txBody>
          <a:bodyPr wrap="square" lIns="0" tIns="0" rIns="0" bIns="0" rtlCol="0" anchor="ctr">
            <a:normAutofit/>
          </a:bodyPr>
          <a:lstStyle/>
          <a:p>
            <a:pPr marL="0" indent="0" algn="l">
              <a:buNone/>
            </a:pPr>
            <a:r>
              <a:rPr lang="en-US" sz="1240" b="1" dirty="0">
                <a:solidFill>
                  <a:srgbClr val="1D2939"/>
                </a:solidFill>
                <a:latin typeface="Aptos" pitchFamily="34" charset="0"/>
                <a:ea typeface="Aptos" pitchFamily="34" charset="-122"/>
                <a:cs typeface="Aptos" pitchFamily="34" charset="-120"/>
              </a:rPr>
              <a:t>Recall@1</a:t>
            </a:r>
            <a:endParaRPr lang="en-US" sz="1240" dirty="0"/>
          </a:p>
        </p:txBody>
      </p:sp>
      <p:sp>
        <p:nvSpPr>
          <p:cNvPr id="14" name="Text 11"/>
          <p:cNvSpPr txBox="1"/>
          <p:nvPr/>
        </p:nvSpPr>
        <p:spPr>
          <a:xfrm>
            <a:off x="3822192" y="22037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4E6BFF"/>
                </a:solidFill>
                <a:latin typeface="Aptos" pitchFamily="34" charset="0"/>
                <a:ea typeface="Aptos" pitchFamily="34" charset="-122"/>
                <a:cs typeface="Aptos" pitchFamily="34" charset="-120"/>
              </a:rPr>
              <a:t>71.43%</a:t>
            </a:r>
            <a:endParaRPr lang="en-US" sz="1330" dirty="0"/>
          </a:p>
        </p:txBody>
      </p:sp>
      <p:sp>
        <p:nvSpPr>
          <p:cNvPr id="15" name="Text 12"/>
          <p:cNvSpPr txBox="1"/>
          <p:nvPr/>
        </p:nvSpPr>
        <p:spPr>
          <a:xfrm>
            <a:off x="5788152" y="22037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45.24%</a:t>
            </a:r>
            <a:endParaRPr lang="en-US" sz="1330" dirty="0"/>
          </a:p>
        </p:txBody>
      </p:sp>
      <p:sp>
        <p:nvSpPr>
          <p:cNvPr id="16" name="Shape 13"/>
          <p:cNvSpPr/>
          <p:nvPr/>
        </p:nvSpPr>
        <p:spPr>
          <a:xfrm>
            <a:off x="713232" y="2560320"/>
            <a:ext cx="7040880" cy="457200"/>
          </a:xfrm>
          <a:prstGeom prst="rect">
            <a:avLst/>
          </a:prstGeom>
          <a:solidFill>
            <a:srgbClr val="F0F3F7"/>
          </a:solidFill>
          <a:ln w="12700">
            <a:solidFill>
              <a:srgbClr val="F0F3F7"/>
            </a:solidFill>
            <a:prstDash val="solid"/>
          </a:ln>
        </p:spPr>
      </p:sp>
      <p:sp>
        <p:nvSpPr>
          <p:cNvPr id="17" name="Text 14"/>
          <p:cNvSpPr txBox="1"/>
          <p:nvPr/>
        </p:nvSpPr>
        <p:spPr>
          <a:xfrm>
            <a:off x="877824" y="2660904"/>
            <a:ext cx="2880360" cy="237744"/>
          </a:xfrm>
          <a:prstGeom prst="rect">
            <a:avLst/>
          </a:prstGeom>
          <a:noFill/>
          <a:ln/>
        </p:spPr>
        <p:txBody>
          <a:bodyPr wrap="square" lIns="0" tIns="0" rIns="0" bIns="0" rtlCol="0" anchor="ctr">
            <a:normAutofit/>
          </a:bodyPr>
          <a:lstStyle/>
          <a:p>
            <a:pPr marL="0" indent="0" algn="l">
              <a:buNone/>
            </a:pPr>
            <a:r>
              <a:rPr lang="en-US" sz="1240" b="1" dirty="0">
                <a:solidFill>
                  <a:srgbClr val="1D2939"/>
                </a:solidFill>
                <a:latin typeface="Aptos" pitchFamily="34" charset="0"/>
                <a:ea typeface="Aptos" pitchFamily="34" charset="-122"/>
                <a:cs typeface="Aptos" pitchFamily="34" charset="-120"/>
              </a:rPr>
              <a:t>Recall@3</a:t>
            </a:r>
            <a:endParaRPr lang="en-US" sz="1240" dirty="0"/>
          </a:p>
        </p:txBody>
      </p:sp>
      <p:sp>
        <p:nvSpPr>
          <p:cNvPr id="18" name="Text 15"/>
          <p:cNvSpPr txBox="1"/>
          <p:nvPr/>
        </p:nvSpPr>
        <p:spPr>
          <a:xfrm>
            <a:off x="3822192" y="26609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4E6BFF"/>
                </a:solidFill>
                <a:latin typeface="Aptos" pitchFamily="34" charset="0"/>
                <a:ea typeface="Aptos" pitchFamily="34" charset="-122"/>
                <a:cs typeface="Aptos" pitchFamily="34" charset="-120"/>
              </a:rPr>
              <a:t>95.24%</a:t>
            </a:r>
            <a:endParaRPr lang="en-US" sz="1330" dirty="0"/>
          </a:p>
        </p:txBody>
      </p:sp>
      <p:sp>
        <p:nvSpPr>
          <p:cNvPr id="19" name="Text 16"/>
          <p:cNvSpPr txBox="1"/>
          <p:nvPr/>
        </p:nvSpPr>
        <p:spPr>
          <a:xfrm>
            <a:off x="5788152" y="26609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76.19%</a:t>
            </a:r>
            <a:endParaRPr lang="en-US" sz="1330" dirty="0"/>
          </a:p>
        </p:txBody>
      </p:sp>
      <p:sp>
        <p:nvSpPr>
          <p:cNvPr id="20" name="Shape 17"/>
          <p:cNvSpPr/>
          <p:nvPr/>
        </p:nvSpPr>
        <p:spPr>
          <a:xfrm>
            <a:off x="713232" y="3017520"/>
            <a:ext cx="7040880" cy="457200"/>
          </a:xfrm>
          <a:prstGeom prst="rect">
            <a:avLst/>
          </a:prstGeom>
          <a:solidFill>
            <a:srgbClr val="FFFFFF"/>
          </a:solidFill>
          <a:ln w="12700">
            <a:solidFill>
              <a:srgbClr val="E1E6ED"/>
            </a:solidFill>
            <a:prstDash val="solid"/>
          </a:ln>
        </p:spPr>
      </p:sp>
      <p:sp>
        <p:nvSpPr>
          <p:cNvPr id="21" name="Text 18"/>
          <p:cNvSpPr txBox="1"/>
          <p:nvPr/>
        </p:nvSpPr>
        <p:spPr>
          <a:xfrm>
            <a:off x="877824" y="3118104"/>
            <a:ext cx="2880360" cy="237744"/>
          </a:xfrm>
          <a:prstGeom prst="rect">
            <a:avLst/>
          </a:prstGeom>
          <a:noFill/>
          <a:ln/>
        </p:spPr>
        <p:txBody>
          <a:bodyPr wrap="square" lIns="0" tIns="0" rIns="0" bIns="0" rtlCol="0" anchor="ctr">
            <a:normAutofit/>
          </a:bodyPr>
          <a:lstStyle/>
          <a:p>
            <a:pPr marL="0" indent="0" algn="l">
              <a:buNone/>
            </a:pPr>
            <a:r>
              <a:rPr lang="en-US" sz="1240" b="1" dirty="0">
                <a:solidFill>
                  <a:srgbClr val="1D2939"/>
                </a:solidFill>
                <a:latin typeface="Aptos" pitchFamily="34" charset="0"/>
                <a:ea typeface="Aptos" pitchFamily="34" charset="-122"/>
                <a:cs typeface="Aptos" pitchFamily="34" charset="-120"/>
              </a:rPr>
              <a:t>MRR@3</a:t>
            </a:r>
            <a:endParaRPr lang="en-US" sz="1240" dirty="0"/>
          </a:p>
        </p:txBody>
      </p:sp>
      <p:sp>
        <p:nvSpPr>
          <p:cNvPr id="22" name="Text 19"/>
          <p:cNvSpPr txBox="1"/>
          <p:nvPr/>
        </p:nvSpPr>
        <p:spPr>
          <a:xfrm>
            <a:off x="3822192" y="31181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4E6BFF"/>
                </a:solidFill>
                <a:latin typeface="Aptos" pitchFamily="34" charset="0"/>
                <a:ea typeface="Aptos" pitchFamily="34" charset="-122"/>
                <a:cs typeface="Aptos" pitchFamily="34" charset="-120"/>
              </a:rPr>
              <a:t>92.06%</a:t>
            </a:r>
            <a:endParaRPr lang="en-US" sz="1330" dirty="0"/>
          </a:p>
        </p:txBody>
      </p:sp>
      <p:sp>
        <p:nvSpPr>
          <p:cNvPr id="23" name="Text 20"/>
          <p:cNvSpPr txBox="1"/>
          <p:nvPr/>
        </p:nvSpPr>
        <p:spPr>
          <a:xfrm>
            <a:off x="5788152" y="31181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69.05%</a:t>
            </a:r>
            <a:endParaRPr lang="en-US" sz="1330" dirty="0"/>
          </a:p>
        </p:txBody>
      </p:sp>
      <p:sp>
        <p:nvSpPr>
          <p:cNvPr id="24" name="Shape 21"/>
          <p:cNvSpPr/>
          <p:nvPr/>
        </p:nvSpPr>
        <p:spPr>
          <a:xfrm>
            <a:off x="713232" y="3474720"/>
            <a:ext cx="7040880" cy="457200"/>
          </a:xfrm>
          <a:prstGeom prst="rect">
            <a:avLst/>
          </a:prstGeom>
          <a:solidFill>
            <a:srgbClr val="F0F3F7"/>
          </a:solidFill>
          <a:ln w="12700">
            <a:solidFill>
              <a:srgbClr val="F0F3F7"/>
            </a:solidFill>
            <a:prstDash val="solid"/>
          </a:ln>
        </p:spPr>
      </p:sp>
      <p:sp>
        <p:nvSpPr>
          <p:cNvPr id="25" name="Text 22"/>
          <p:cNvSpPr txBox="1"/>
          <p:nvPr/>
        </p:nvSpPr>
        <p:spPr>
          <a:xfrm>
            <a:off x="877824" y="3575304"/>
            <a:ext cx="2880360" cy="237744"/>
          </a:xfrm>
          <a:prstGeom prst="rect">
            <a:avLst/>
          </a:prstGeom>
          <a:noFill/>
          <a:ln/>
        </p:spPr>
        <p:txBody>
          <a:bodyPr wrap="square" lIns="0" tIns="0" rIns="0" bIns="0" rtlCol="0" anchor="ctr">
            <a:normAutofit/>
          </a:bodyPr>
          <a:lstStyle/>
          <a:p>
            <a:pPr marL="0" indent="0" algn="l">
              <a:buNone/>
            </a:pPr>
            <a:r>
              <a:rPr lang="en-US" sz="1240" dirty="0">
                <a:solidFill>
                  <a:srgbClr val="1D2939"/>
                </a:solidFill>
                <a:latin typeface="Aptos" pitchFamily="34" charset="0"/>
                <a:ea typeface="Aptos" pitchFamily="34" charset="-122"/>
                <a:cs typeface="Aptos" pitchFamily="34" charset="-120"/>
              </a:rPr>
              <a:t>Answer accuracy</a:t>
            </a:r>
            <a:endParaRPr lang="en-US" sz="1240" dirty="0"/>
          </a:p>
        </p:txBody>
      </p:sp>
      <p:sp>
        <p:nvSpPr>
          <p:cNvPr id="26" name="Text 23"/>
          <p:cNvSpPr txBox="1"/>
          <p:nvPr/>
        </p:nvSpPr>
        <p:spPr>
          <a:xfrm>
            <a:off x="3822192" y="35753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1D2939"/>
                </a:solidFill>
                <a:latin typeface="Aptos" pitchFamily="34" charset="0"/>
                <a:ea typeface="Aptos" pitchFamily="34" charset="-122"/>
                <a:cs typeface="Aptos" pitchFamily="34" charset="-120"/>
              </a:rPr>
              <a:t>81.82%</a:t>
            </a:r>
            <a:endParaRPr lang="en-US" sz="1330" dirty="0"/>
          </a:p>
        </p:txBody>
      </p:sp>
      <p:sp>
        <p:nvSpPr>
          <p:cNvPr id="27" name="Text 24"/>
          <p:cNvSpPr txBox="1"/>
          <p:nvPr/>
        </p:nvSpPr>
        <p:spPr>
          <a:xfrm>
            <a:off x="5788152" y="35753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1D2939"/>
                </a:solidFill>
                <a:latin typeface="Aptos" pitchFamily="34" charset="0"/>
                <a:ea typeface="Aptos" pitchFamily="34" charset="-122"/>
                <a:cs typeface="Aptos" pitchFamily="34" charset="-120"/>
              </a:rPr>
              <a:t>81.82%</a:t>
            </a:r>
            <a:endParaRPr lang="en-US" sz="1330" dirty="0"/>
          </a:p>
        </p:txBody>
      </p:sp>
      <p:sp>
        <p:nvSpPr>
          <p:cNvPr id="28" name="Shape 25"/>
          <p:cNvSpPr/>
          <p:nvPr/>
        </p:nvSpPr>
        <p:spPr>
          <a:xfrm>
            <a:off x="713232" y="3931920"/>
            <a:ext cx="7040880" cy="457200"/>
          </a:xfrm>
          <a:prstGeom prst="rect">
            <a:avLst/>
          </a:prstGeom>
          <a:solidFill>
            <a:srgbClr val="FFFFFF"/>
          </a:solidFill>
          <a:ln w="12700">
            <a:solidFill>
              <a:srgbClr val="E1E6ED"/>
            </a:solidFill>
            <a:prstDash val="solid"/>
          </a:ln>
        </p:spPr>
      </p:sp>
      <p:sp>
        <p:nvSpPr>
          <p:cNvPr id="29" name="Text 26"/>
          <p:cNvSpPr txBox="1"/>
          <p:nvPr/>
        </p:nvSpPr>
        <p:spPr>
          <a:xfrm>
            <a:off x="877824" y="4032504"/>
            <a:ext cx="2880360" cy="237744"/>
          </a:xfrm>
          <a:prstGeom prst="rect">
            <a:avLst/>
          </a:prstGeom>
          <a:noFill/>
          <a:ln/>
        </p:spPr>
        <p:txBody>
          <a:bodyPr wrap="square" lIns="0" tIns="0" rIns="0" bIns="0" rtlCol="0" anchor="ctr">
            <a:normAutofit/>
          </a:bodyPr>
          <a:lstStyle/>
          <a:p>
            <a:pPr marL="0" indent="0" algn="l">
              <a:buNone/>
            </a:pPr>
            <a:r>
              <a:rPr lang="en-US" sz="1240" dirty="0">
                <a:solidFill>
                  <a:srgbClr val="1D2939"/>
                </a:solidFill>
                <a:latin typeface="Aptos" pitchFamily="34" charset="0"/>
                <a:ea typeface="Aptos" pitchFamily="34" charset="-122"/>
                <a:cs typeface="Aptos" pitchFamily="34" charset="-120"/>
              </a:rPr>
              <a:t>Hallucination rate</a:t>
            </a:r>
            <a:endParaRPr lang="en-US" sz="1240" dirty="0"/>
          </a:p>
        </p:txBody>
      </p:sp>
      <p:sp>
        <p:nvSpPr>
          <p:cNvPr id="30" name="Text 27"/>
          <p:cNvSpPr txBox="1"/>
          <p:nvPr/>
        </p:nvSpPr>
        <p:spPr>
          <a:xfrm>
            <a:off x="3822192" y="40325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13.64%</a:t>
            </a:r>
            <a:endParaRPr lang="en-US" sz="1330" dirty="0"/>
          </a:p>
        </p:txBody>
      </p:sp>
      <p:sp>
        <p:nvSpPr>
          <p:cNvPr id="31" name="Text 28"/>
          <p:cNvSpPr txBox="1"/>
          <p:nvPr/>
        </p:nvSpPr>
        <p:spPr>
          <a:xfrm>
            <a:off x="5788152" y="40325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0FA99F"/>
                </a:solidFill>
                <a:latin typeface="Aptos" pitchFamily="34" charset="0"/>
                <a:ea typeface="Aptos" pitchFamily="34" charset="-122"/>
                <a:cs typeface="Aptos" pitchFamily="34" charset="-120"/>
              </a:rPr>
              <a:t>18.18%</a:t>
            </a:r>
            <a:endParaRPr lang="en-US" sz="1330" dirty="0"/>
          </a:p>
        </p:txBody>
      </p:sp>
      <p:sp>
        <p:nvSpPr>
          <p:cNvPr id="32" name="Shape 29"/>
          <p:cNvSpPr/>
          <p:nvPr/>
        </p:nvSpPr>
        <p:spPr>
          <a:xfrm>
            <a:off x="713232" y="4389120"/>
            <a:ext cx="7040880" cy="457200"/>
          </a:xfrm>
          <a:prstGeom prst="rect">
            <a:avLst/>
          </a:prstGeom>
          <a:solidFill>
            <a:srgbClr val="F0F3F7"/>
          </a:solidFill>
          <a:ln w="12700">
            <a:solidFill>
              <a:srgbClr val="F0F3F7"/>
            </a:solidFill>
            <a:prstDash val="solid"/>
          </a:ln>
        </p:spPr>
      </p:sp>
      <p:sp>
        <p:nvSpPr>
          <p:cNvPr id="33" name="Text 30"/>
          <p:cNvSpPr txBox="1"/>
          <p:nvPr/>
        </p:nvSpPr>
        <p:spPr>
          <a:xfrm>
            <a:off x="877824" y="4489704"/>
            <a:ext cx="2880360" cy="237744"/>
          </a:xfrm>
          <a:prstGeom prst="rect">
            <a:avLst/>
          </a:prstGeom>
          <a:noFill/>
          <a:ln/>
        </p:spPr>
        <p:txBody>
          <a:bodyPr wrap="square" lIns="0" tIns="0" rIns="0" bIns="0" rtlCol="0" anchor="ctr">
            <a:normAutofit/>
          </a:bodyPr>
          <a:lstStyle/>
          <a:p>
            <a:pPr marL="0" indent="0" algn="l">
              <a:buNone/>
            </a:pPr>
            <a:r>
              <a:rPr lang="en-US" sz="1240" dirty="0">
                <a:solidFill>
                  <a:srgbClr val="1D2939"/>
                </a:solidFill>
                <a:latin typeface="Aptos" pitchFamily="34" charset="0"/>
                <a:ea typeface="Aptos" pitchFamily="34" charset="-122"/>
                <a:cs typeface="Aptos" pitchFamily="34" charset="-120"/>
              </a:rPr>
              <a:t>Retrieval-failure rate</a:t>
            </a:r>
            <a:endParaRPr lang="en-US" sz="1240" dirty="0"/>
          </a:p>
        </p:txBody>
      </p:sp>
      <p:sp>
        <p:nvSpPr>
          <p:cNvPr id="34" name="Text 31"/>
          <p:cNvSpPr txBox="1"/>
          <p:nvPr/>
        </p:nvSpPr>
        <p:spPr>
          <a:xfrm>
            <a:off x="3822192" y="44897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4E6BFF"/>
                </a:solidFill>
                <a:latin typeface="Aptos" pitchFamily="34" charset="0"/>
                <a:ea typeface="Aptos" pitchFamily="34" charset="-122"/>
                <a:cs typeface="Aptos" pitchFamily="34" charset="-120"/>
              </a:rPr>
              <a:t>0.00%</a:t>
            </a:r>
            <a:endParaRPr lang="en-US" sz="1330" dirty="0"/>
          </a:p>
        </p:txBody>
      </p:sp>
      <p:sp>
        <p:nvSpPr>
          <p:cNvPr id="35" name="Text 32"/>
          <p:cNvSpPr txBox="1"/>
          <p:nvPr/>
        </p:nvSpPr>
        <p:spPr>
          <a:xfrm>
            <a:off x="5788152" y="44897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14.29%</a:t>
            </a:r>
            <a:endParaRPr lang="en-US" sz="1330" dirty="0"/>
          </a:p>
        </p:txBody>
      </p:sp>
      <p:sp>
        <p:nvSpPr>
          <p:cNvPr id="36" name="Shape 33"/>
          <p:cNvSpPr/>
          <p:nvPr/>
        </p:nvSpPr>
        <p:spPr>
          <a:xfrm>
            <a:off x="713232" y="4846320"/>
            <a:ext cx="7040880" cy="457200"/>
          </a:xfrm>
          <a:prstGeom prst="rect">
            <a:avLst/>
          </a:prstGeom>
          <a:solidFill>
            <a:srgbClr val="FFFFFF"/>
          </a:solidFill>
          <a:ln w="12700">
            <a:solidFill>
              <a:srgbClr val="E1E6ED"/>
            </a:solidFill>
            <a:prstDash val="solid"/>
          </a:ln>
        </p:spPr>
      </p:sp>
      <p:sp>
        <p:nvSpPr>
          <p:cNvPr id="37" name="Text 34"/>
          <p:cNvSpPr txBox="1"/>
          <p:nvPr/>
        </p:nvSpPr>
        <p:spPr>
          <a:xfrm>
            <a:off x="877824" y="4946904"/>
            <a:ext cx="2880360" cy="237744"/>
          </a:xfrm>
          <a:prstGeom prst="rect">
            <a:avLst/>
          </a:prstGeom>
          <a:noFill/>
          <a:ln/>
        </p:spPr>
        <p:txBody>
          <a:bodyPr wrap="square" lIns="0" tIns="0" rIns="0" bIns="0" rtlCol="0" anchor="ctr">
            <a:normAutofit/>
          </a:bodyPr>
          <a:lstStyle/>
          <a:p>
            <a:pPr marL="0" indent="0" algn="l">
              <a:buNone/>
            </a:pPr>
            <a:r>
              <a:rPr lang="en-US" sz="1240" dirty="0">
                <a:solidFill>
                  <a:srgbClr val="1D2939"/>
                </a:solidFill>
                <a:latin typeface="Aptos" pitchFamily="34" charset="0"/>
                <a:ea typeface="Aptos" pitchFamily="34" charset="-122"/>
                <a:cs typeface="Aptos" pitchFamily="34" charset="-120"/>
              </a:rPr>
              <a:t>Generation-failure rate</a:t>
            </a:r>
            <a:endParaRPr lang="en-US" sz="1240" dirty="0"/>
          </a:p>
        </p:txBody>
      </p:sp>
      <p:sp>
        <p:nvSpPr>
          <p:cNvPr id="38" name="Text 35"/>
          <p:cNvSpPr txBox="1"/>
          <p:nvPr/>
        </p:nvSpPr>
        <p:spPr>
          <a:xfrm>
            <a:off x="3822192" y="49469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5E6A7C"/>
                </a:solidFill>
                <a:latin typeface="Aptos" pitchFamily="34" charset="0"/>
                <a:ea typeface="Aptos" pitchFamily="34" charset="-122"/>
                <a:cs typeface="Aptos" pitchFamily="34" charset="-120"/>
              </a:rPr>
              <a:t>19.05%</a:t>
            </a:r>
            <a:endParaRPr lang="en-US" sz="1330" dirty="0"/>
          </a:p>
        </p:txBody>
      </p:sp>
      <p:sp>
        <p:nvSpPr>
          <p:cNvPr id="39" name="Text 36"/>
          <p:cNvSpPr txBox="1"/>
          <p:nvPr/>
        </p:nvSpPr>
        <p:spPr>
          <a:xfrm>
            <a:off x="5788152" y="4946904"/>
            <a:ext cx="1965960" cy="237744"/>
          </a:xfrm>
          <a:prstGeom prst="rect">
            <a:avLst/>
          </a:prstGeom>
          <a:noFill/>
          <a:ln/>
        </p:spPr>
        <p:txBody>
          <a:bodyPr wrap="square" lIns="0" tIns="0" rIns="0" bIns="0" rtlCol="0" anchor="ctr">
            <a:normAutofit/>
          </a:bodyPr>
          <a:lstStyle/>
          <a:p>
            <a:pPr marL="0" indent="0" algn="ctr">
              <a:buNone/>
            </a:pPr>
            <a:r>
              <a:rPr lang="en-US" sz="1330" b="1" dirty="0">
                <a:solidFill>
                  <a:srgbClr val="0FA99F"/>
                </a:solidFill>
                <a:latin typeface="Aptos" pitchFamily="34" charset="0"/>
                <a:ea typeface="Aptos" pitchFamily="34" charset="-122"/>
                <a:cs typeface="Aptos" pitchFamily="34" charset="-120"/>
              </a:rPr>
              <a:t>5.56%</a:t>
            </a:r>
            <a:endParaRPr lang="en-US" sz="1330" dirty="0"/>
          </a:p>
        </p:txBody>
      </p:sp>
      <p:sp>
        <p:nvSpPr>
          <p:cNvPr id="40" name="Shape 37"/>
          <p:cNvSpPr/>
          <p:nvPr/>
        </p:nvSpPr>
        <p:spPr>
          <a:xfrm>
            <a:off x="8275320" y="1719072"/>
            <a:ext cx="3063240" cy="1042416"/>
          </a:xfrm>
          <a:prstGeom prst="roundRect">
            <a:avLst>
              <a:gd name="adj" fmla="val 10526"/>
            </a:avLst>
          </a:prstGeom>
          <a:solidFill>
            <a:srgbClr val="EEF1FF"/>
          </a:solidFill>
          <a:ln w="6350">
            <a:solidFill>
              <a:srgbClr val="E1E6ED"/>
            </a:solidFill>
            <a:prstDash val="solid"/>
          </a:ln>
        </p:spPr>
      </p:sp>
      <p:sp>
        <p:nvSpPr>
          <p:cNvPr id="41" name="Shape 38"/>
          <p:cNvSpPr/>
          <p:nvPr/>
        </p:nvSpPr>
        <p:spPr>
          <a:xfrm>
            <a:off x="8275320" y="1719072"/>
            <a:ext cx="64008" cy="1042416"/>
          </a:xfrm>
          <a:prstGeom prst="rect">
            <a:avLst/>
          </a:prstGeom>
          <a:solidFill>
            <a:srgbClr val="4E6BFF"/>
          </a:solidFill>
          <a:ln w="12700">
            <a:solidFill>
              <a:srgbClr val="4E6BFF">
                <a:alpha val="0"/>
              </a:srgbClr>
            </a:solidFill>
            <a:prstDash val="solid"/>
          </a:ln>
        </p:spPr>
      </p:sp>
      <p:sp>
        <p:nvSpPr>
          <p:cNvPr id="42" name="Text 39"/>
          <p:cNvSpPr txBox="1"/>
          <p:nvPr/>
        </p:nvSpPr>
        <p:spPr>
          <a:xfrm>
            <a:off x="8476488" y="1883664"/>
            <a:ext cx="2697480" cy="274320"/>
          </a:xfrm>
          <a:prstGeom prst="rect">
            <a:avLst/>
          </a:prstGeom>
          <a:noFill/>
          <a:ln/>
        </p:spPr>
        <p:txBody>
          <a:bodyPr wrap="square" lIns="0" tIns="0" rIns="0" bIns="0" rtlCol="0" anchor="ctr">
            <a:normAutofit/>
          </a:bodyPr>
          <a:lstStyle/>
          <a:p>
            <a:pPr marL="0" indent="0" algn="l">
              <a:buNone/>
            </a:pPr>
            <a:r>
              <a:rPr lang="en-US" sz="1450" b="1" dirty="0">
                <a:solidFill>
                  <a:srgbClr val="111B2E"/>
                </a:solidFill>
                <a:latin typeface="Aptos" pitchFamily="34" charset="0"/>
                <a:ea typeface="Aptos" pitchFamily="34" charset="-122"/>
                <a:cs typeface="Aptos" pitchFamily="34" charset="-120"/>
              </a:rPr>
              <a:t>Retrieval advantage</a:t>
            </a:r>
            <a:endParaRPr lang="en-US" sz="1450" dirty="0"/>
          </a:p>
        </p:txBody>
      </p:sp>
      <p:sp>
        <p:nvSpPr>
          <p:cNvPr id="43" name="Text 40"/>
          <p:cNvSpPr txBox="1"/>
          <p:nvPr/>
        </p:nvSpPr>
        <p:spPr>
          <a:xfrm>
            <a:off x="8494776" y="2249424"/>
            <a:ext cx="2660904" cy="420624"/>
          </a:xfrm>
          <a:prstGeom prst="rect">
            <a:avLst/>
          </a:prstGeom>
          <a:noFill/>
          <a:ln/>
        </p:spPr>
        <p:txBody>
          <a:bodyPr wrap="square" lIns="0" tIns="0" rIns="0" bIns="0" rtlCol="0" anchor="t">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TF-IDF scores higher on Recall@1, Recall@3 and MRR.</a:t>
            </a:r>
            <a:endParaRPr lang="en-US" sz="1150" dirty="0"/>
          </a:p>
        </p:txBody>
      </p:sp>
      <p:sp>
        <p:nvSpPr>
          <p:cNvPr id="44" name="Shape 41"/>
          <p:cNvSpPr/>
          <p:nvPr/>
        </p:nvSpPr>
        <p:spPr>
          <a:xfrm>
            <a:off x="8275320" y="2962656"/>
            <a:ext cx="3063240" cy="1042416"/>
          </a:xfrm>
          <a:prstGeom prst="roundRect">
            <a:avLst>
              <a:gd name="adj" fmla="val 10526"/>
            </a:avLst>
          </a:prstGeom>
          <a:solidFill>
            <a:srgbClr val="E9F8F6"/>
          </a:solidFill>
          <a:ln w="6350">
            <a:solidFill>
              <a:srgbClr val="E1E6ED"/>
            </a:solidFill>
            <a:prstDash val="solid"/>
          </a:ln>
        </p:spPr>
      </p:sp>
      <p:sp>
        <p:nvSpPr>
          <p:cNvPr id="45" name="Shape 42"/>
          <p:cNvSpPr/>
          <p:nvPr/>
        </p:nvSpPr>
        <p:spPr>
          <a:xfrm>
            <a:off x="8275320" y="2962656"/>
            <a:ext cx="64008" cy="1042416"/>
          </a:xfrm>
          <a:prstGeom prst="rect">
            <a:avLst/>
          </a:prstGeom>
          <a:solidFill>
            <a:srgbClr val="0FA99F"/>
          </a:solidFill>
          <a:ln w="12700">
            <a:solidFill>
              <a:srgbClr val="0FA99F">
                <a:alpha val="0"/>
              </a:srgbClr>
            </a:solidFill>
            <a:prstDash val="solid"/>
          </a:ln>
        </p:spPr>
      </p:sp>
      <p:sp>
        <p:nvSpPr>
          <p:cNvPr id="46" name="Text 43"/>
          <p:cNvSpPr txBox="1"/>
          <p:nvPr/>
        </p:nvSpPr>
        <p:spPr>
          <a:xfrm>
            <a:off x="8476488" y="3127248"/>
            <a:ext cx="2697480" cy="274320"/>
          </a:xfrm>
          <a:prstGeom prst="rect">
            <a:avLst/>
          </a:prstGeom>
          <a:noFill/>
          <a:ln/>
        </p:spPr>
        <p:txBody>
          <a:bodyPr wrap="square" lIns="0" tIns="0" rIns="0" bIns="0" rtlCol="0" anchor="ctr">
            <a:normAutofit/>
          </a:bodyPr>
          <a:lstStyle/>
          <a:p>
            <a:pPr marL="0" indent="0" algn="l">
              <a:buNone/>
            </a:pPr>
            <a:r>
              <a:rPr lang="en-US" sz="1450" b="1" dirty="0">
                <a:solidFill>
                  <a:srgbClr val="111B2E"/>
                </a:solidFill>
                <a:latin typeface="Aptos" pitchFamily="34" charset="0"/>
                <a:ea typeface="Aptos" pitchFamily="34" charset="-122"/>
                <a:cs typeface="Aptos" pitchFamily="34" charset="-120"/>
              </a:rPr>
              <a:t>Same answer accuracy</a:t>
            </a:r>
            <a:endParaRPr lang="en-US" sz="1450" dirty="0"/>
          </a:p>
        </p:txBody>
      </p:sp>
      <p:sp>
        <p:nvSpPr>
          <p:cNvPr id="47" name="Text 44"/>
          <p:cNvSpPr txBox="1"/>
          <p:nvPr/>
        </p:nvSpPr>
        <p:spPr>
          <a:xfrm>
            <a:off x="8494776" y="3493008"/>
            <a:ext cx="2660904" cy="420624"/>
          </a:xfrm>
          <a:prstGeom prst="rect">
            <a:avLst/>
          </a:prstGeom>
          <a:noFill/>
          <a:ln/>
        </p:spPr>
        <p:txBody>
          <a:bodyPr wrap="square" lIns="0" tIns="0" rIns="0" bIns="0" rtlCol="0" anchor="t">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Both methods report 81.82% in this comparison snapshot.</a:t>
            </a:r>
            <a:endParaRPr lang="en-US" sz="1150" dirty="0"/>
          </a:p>
        </p:txBody>
      </p:sp>
      <p:sp>
        <p:nvSpPr>
          <p:cNvPr id="48" name="Shape 45"/>
          <p:cNvSpPr/>
          <p:nvPr/>
        </p:nvSpPr>
        <p:spPr>
          <a:xfrm>
            <a:off x="8275320" y="4206240"/>
            <a:ext cx="3063240" cy="1042416"/>
          </a:xfrm>
          <a:prstGeom prst="roundRect">
            <a:avLst>
              <a:gd name="adj" fmla="val 10526"/>
            </a:avLst>
          </a:prstGeom>
          <a:solidFill>
            <a:srgbClr val="FFF7E5"/>
          </a:solidFill>
          <a:ln w="6350">
            <a:solidFill>
              <a:srgbClr val="E1E6ED"/>
            </a:solidFill>
            <a:prstDash val="solid"/>
          </a:ln>
        </p:spPr>
      </p:sp>
      <p:sp>
        <p:nvSpPr>
          <p:cNvPr id="49" name="Shape 46"/>
          <p:cNvSpPr/>
          <p:nvPr/>
        </p:nvSpPr>
        <p:spPr>
          <a:xfrm>
            <a:off x="8275320" y="4206240"/>
            <a:ext cx="64008" cy="1042416"/>
          </a:xfrm>
          <a:prstGeom prst="rect">
            <a:avLst/>
          </a:prstGeom>
          <a:solidFill>
            <a:srgbClr val="E9AE3C"/>
          </a:solidFill>
          <a:ln w="12700">
            <a:solidFill>
              <a:srgbClr val="E9AE3C">
                <a:alpha val="0"/>
              </a:srgbClr>
            </a:solidFill>
            <a:prstDash val="solid"/>
          </a:ln>
        </p:spPr>
      </p:sp>
      <p:sp>
        <p:nvSpPr>
          <p:cNvPr id="50" name="Text 47"/>
          <p:cNvSpPr txBox="1"/>
          <p:nvPr/>
        </p:nvSpPr>
        <p:spPr>
          <a:xfrm>
            <a:off x="8476488" y="4370832"/>
            <a:ext cx="2697480" cy="274320"/>
          </a:xfrm>
          <a:prstGeom prst="rect">
            <a:avLst/>
          </a:prstGeom>
          <a:noFill/>
          <a:ln/>
        </p:spPr>
        <p:txBody>
          <a:bodyPr wrap="square" lIns="0" tIns="0" rIns="0" bIns="0" rtlCol="0" anchor="ctr">
            <a:normAutofit/>
          </a:bodyPr>
          <a:lstStyle/>
          <a:p>
            <a:pPr marL="0" indent="0" algn="l">
              <a:buNone/>
            </a:pPr>
            <a:r>
              <a:rPr lang="en-US" sz="1450" b="1" dirty="0">
                <a:solidFill>
                  <a:srgbClr val="111B2E"/>
                </a:solidFill>
                <a:latin typeface="Aptos" pitchFamily="34" charset="0"/>
                <a:ea typeface="Aptos" pitchFamily="34" charset="-122"/>
                <a:cs typeface="Aptos" pitchFamily="34" charset="-120"/>
              </a:rPr>
              <a:t>Do not overgeneralize</a:t>
            </a:r>
            <a:endParaRPr lang="en-US" sz="1450" dirty="0"/>
          </a:p>
        </p:txBody>
      </p:sp>
      <p:sp>
        <p:nvSpPr>
          <p:cNvPr id="51" name="Text 48"/>
          <p:cNvSpPr txBox="1"/>
          <p:nvPr/>
        </p:nvSpPr>
        <p:spPr>
          <a:xfrm>
            <a:off x="8494776" y="4736592"/>
            <a:ext cx="2660904" cy="420624"/>
          </a:xfrm>
          <a:prstGeom prst="rect">
            <a:avLst/>
          </a:prstGeom>
          <a:noFill/>
          <a:ln/>
        </p:spPr>
        <p:txBody>
          <a:bodyPr wrap="square" lIns="0" tIns="0" rIns="0" bIns="0" rtlCol="0" anchor="t">
            <a:normAutofit/>
          </a:bodyPr>
          <a:lstStyle/>
          <a:p>
            <a:pPr marL="0" indent="0" algn="l">
              <a:buNone/>
            </a:pPr>
            <a:r>
              <a:rPr lang="en-US" sz="1150" dirty="0">
                <a:solidFill>
                  <a:srgbClr val="5E6A7C"/>
                </a:solidFill>
                <a:latin typeface="Aptos" pitchFamily="34" charset="0"/>
                <a:ea typeface="Aptos" pitchFamily="34" charset="-122"/>
                <a:cs typeface="Aptos" pitchFamily="34" charset="-120"/>
              </a:rPr>
              <a:t>Small benchmark; results depend on page labels and human review.</a:t>
            </a:r>
            <a:endParaRPr lang="en-US" sz="1150" dirty="0"/>
          </a:p>
        </p:txBody>
      </p:sp>
      <p:sp>
        <p:nvSpPr>
          <p:cNvPr id="52" name="Text 49"/>
          <p:cNvSpPr txBox="1"/>
          <p:nvPr/>
        </p:nvSpPr>
        <p:spPr>
          <a:xfrm>
            <a:off x="758952" y="5596128"/>
            <a:ext cx="10332720" cy="201168"/>
          </a:xfrm>
          <a:prstGeom prst="rect">
            <a:avLst/>
          </a:prstGeom>
          <a:noFill/>
          <a:ln/>
        </p:spPr>
        <p:txBody>
          <a:bodyPr wrap="square" lIns="0" tIns="0" rIns="0" bIns="0" rtlCol="0" anchor="ctr">
            <a:normAutofit/>
          </a:bodyPr>
          <a:lstStyle/>
          <a:p>
            <a:pPr marL="0" indent="0" algn="l">
              <a:buNone/>
            </a:pPr>
            <a:r>
              <a:rPr lang="en-US" sz="950" i="1" dirty="0">
                <a:solidFill>
                  <a:srgbClr val="7F8A9A"/>
                </a:solidFill>
                <a:latin typeface="Aptos" pitchFamily="34" charset="0"/>
                <a:ea typeface="Aptos" pitchFamily="34" charset="-122"/>
                <a:cs typeface="Aptos" pitchFamily="34" charset="-120"/>
              </a:rPr>
              <a:t>Source: uploaded results/comparison_table.csv. Percentages are the stored proportions × 100.</a:t>
            </a:r>
            <a:endParaRPr lang="en-US" sz="95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292608"/>
            <a:ext cx="7315200" cy="201168"/>
          </a:xfrm>
          <a:prstGeom prst="rect">
            <a:avLst/>
          </a:prstGeom>
          <a:noFill/>
          <a:ln/>
        </p:spPr>
        <p:txBody>
          <a:bodyPr wrap="square" lIns="0" tIns="0" rIns="0" bIns="0" rtlCol="0" anchor="ctr">
            <a:normAutofit/>
          </a:bodyPr>
          <a:lstStyle/>
          <a:p>
            <a:pPr marL="0" indent="0" algn="l">
              <a:buNone/>
            </a:pPr>
            <a:r>
              <a:rPr lang="en-US" sz="900" b="1" kern="0" spc="140" dirty="0">
                <a:solidFill>
                  <a:srgbClr val="0FA99F"/>
                </a:solidFill>
                <a:latin typeface="Aptos" pitchFamily="34" charset="0"/>
                <a:ea typeface="Aptos" pitchFamily="34" charset="-122"/>
                <a:cs typeface="Aptos" pitchFamily="34" charset="-120"/>
              </a:rPr>
              <a:t>13 • FAILURE ANALYSIS</a:t>
            </a:r>
            <a:endParaRPr lang="en-US" sz="900" dirty="0"/>
          </a:p>
        </p:txBody>
      </p:sp>
      <p:sp>
        <p:nvSpPr>
          <p:cNvPr id="3" name="Text 1"/>
          <p:cNvSpPr txBox="1"/>
          <p:nvPr/>
        </p:nvSpPr>
        <p:spPr>
          <a:xfrm>
            <a:off x="621792" y="566928"/>
            <a:ext cx="10972800" cy="475488"/>
          </a:xfrm>
          <a:prstGeom prst="rect">
            <a:avLst/>
          </a:prstGeom>
          <a:noFill/>
          <a:ln/>
        </p:spPr>
        <p:txBody>
          <a:bodyPr wrap="square" lIns="0" tIns="0" rIns="0" bIns="0" rtlCol="0" anchor="ctr">
            <a:normAutofit/>
          </a:bodyPr>
          <a:lstStyle/>
          <a:p>
            <a:pPr marL="0" indent="0" algn="l">
              <a:buNone/>
            </a:pPr>
            <a:r>
              <a:rPr lang="en-US" sz="2700" b="1" dirty="0">
                <a:solidFill>
                  <a:srgbClr val="111B2E"/>
                </a:solidFill>
                <a:latin typeface="Aptos Display" pitchFamily="34" charset="0"/>
                <a:ea typeface="Aptos Display" pitchFamily="34" charset="-122"/>
                <a:cs typeface="Aptos Display" pitchFamily="34" charset="-120"/>
              </a:rPr>
              <a:t>The most useful evidence is in the failure cases</a:t>
            </a:r>
            <a:endParaRPr lang="en-US" sz="2700" dirty="0"/>
          </a:p>
        </p:txBody>
      </p:sp>
      <p:sp>
        <p:nvSpPr>
          <p:cNvPr id="4" name="Text 2"/>
          <p:cNvSpPr txBox="1"/>
          <p:nvPr/>
        </p:nvSpPr>
        <p:spPr>
          <a:xfrm>
            <a:off x="640080" y="1088136"/>
            <a:ext cx="10789920" cy="310896"/>
          </a:xfrm>
          <a:prstGeom prst="rect">
            <a:avLst/>
          </a:prstGeom>
          <a:noFill/>
          <a:ln/>
        </p:spPr>
        <p:txBody>
          <a:bodyPr wrap="square" lIns="0" tIns="0" rIns="0" bIns="0" rtlCol="0" anchor="ctr">
            <a:normAutofit/>
          </a:bodyPr>
          <a:lstStyle/>
          <a:p>
            <a:pPr marL="0" indent="0" algn="l">
              <a:buNone/>
            </a:pPr>
            <a:r>
              <a:rPr lang="en-US" sz="1250" dirty="0">
                <a:solidFill>
                  <a:srgbClr val="5E6A7C"/>
                </a:solidFill>
                <a:latin typeface="Aptos" pitchFamily="34" charset="0"/>
                <a:ea typeface="Aptos" pitchFamily="34" charset="-122"/>
                <a:cs typeface="Aptos" pitchFamily="34" charset="-120"/>
              </a:rPr>
              <a:t>Examples show why retrieval success and answer correctness must be inspected independently.</a:t>
            </a:r>
            <a:endParaRPr lang="en-US" sz="1250" dirty="0"/>
          </a:p>
        </p:txBody>
      </p:sp>
      <p:sp>
        <p:nvSpPr>
          <p:cNvPr id="5" name="Shape 3"/>
          <p:cNvSpPr/>
          <p:nvPr/>
        </p:nvSpPr>
        <p:spPr>
          <a:xfrm>
            <a:off x="10771632" y="329184"/>
            <a:ext cx="786384" cy="91440"/>
          </a:xfrm>
          <a:prstGeom prst="roundRect">
            <a:avLst>
              <a:gd name="adj" fmla="val 120000"/>
            </a:avLst>
          </a:prstGeom>
          <a:solidFill>
            <a:srgbClr val="E1E6ED"/>
          </a:solidFill>
          <a:ln w="12700">
            <a:solidFill>
              <a:srgbClr val="E1E6ED">
                <a:alpha val="0"/>
              </a:srgbClr>
            </a:solidFill>
            <a:prstDash val="solid"/>
          </a:ln>
        </p:spPr>
      </p:sp>
      <p:sp>
        <p:nvSpPr>
          <p:cNvPr id="6" name="Shape 4"/>
          <p:cNvSpPr/>
          <p:nvPr/>
        </p:nvSpPr>
        <p:spPr>
          <a:xfrm>
            <a:off x="10771632" y="329184"/>
            <a:ext cx="733958" cy="91440"/>
          </a:xfrm>
          <a:prstGeom prst="roundRect">
            <a:avLst>
              <a:gd name="adj" fmla="val 120000"/>
            </a:avLst>
          </a:prstGeom>
          <a:solidFill>
            <a:srgbClr val="0FA99F"/>
          </a:solidFill>
          <a:ln w="12700">
            <a:solidFill>
              <a:srgbClr val="0FA99F">
                <a:alpha val="0"/>
              </a:srgbClr>
            </a:solidFill>
            <a:prstDash val="solid"/>
          </a:ln>
        </p:spPr>
      </p:sp>
      <p:sp>
        <p:nvSpPr>
          <p:cNvPr id="8" name="Shape 5"/>
          <p:cNvSpPr/>
          <p:nvPr/>
        </p:nvSpPr>
        <p:spPr>
          <a:xfrm>
            <a:off x="749808" y="1691640"/>
            <a:ext cx="5212080" cy="1426464"/>
          </a:xfrm>
          <a:prstGeom prst="roundRect">
            <a:avLst>
              <a:gd name="adj" fmla="val 7692"/>
            </a:avLst>
          </a:prstGeom>
          <a:solidFill>
            <a:srgbClr val="FFF0EE"/>
          </a:solidFill>
          <a:ln w="12700">
            <a:solidFill>
              <a:srgbClr val="E1E6ED"/>
            </a:solidFill>
            <a:prstDash val="solid"/>
          </a:ln>
        </p:spPr>
      </p:sp>
      <p:sp>
        <p:nvSpPr>
          <p:cNvPr id="9" name="Shape 6"/>
          <p:cNvSpPr/>
          <p:nvPr/>
        </p:nvSpPr>
        <p:spPr>
          <a:xfrm>
            <a:off x="914400" y="1810512"/>
            <a:ext cx="1572768" cy="283464"/>
          </a:xfrm>
          <a:prstGeom prst="roundRect">
            <a:avLst>
              <a:gd name="adj" fmla="val 38710"/>
            </a:avLst>
          </a:prstGeom>
          <a:solidFill>
            <a:srgbClr val="FFFFFF"/>
          </a:solidFill>
          <a:ln w="12700">
            <a:solidFill>
              <a:srgbClr val="FFFFFF">
                <a:alpha val="0"/>
              </a:srgbClr>
            </a:solidFill>
            <a:prstDash val="solid"/>
          </a:ln>
        </p:spPr>
      </p:sp>
      <p:sp>
        <p:nvSpPr>
          <p:cNvPr id="10" name="Text 7"/>
          <p:cNvSpPr txBox="1"/>
          <p:nvPr/>
        </p:nvSpPr>
        <p:spPr>
          <a:xfrm>
            <a:off x="987552" y="1828800"/>
            <a:ext cx="1426464" cy="237744"/>
          </a:xfrm>
          <a:prstGeom prst="rect">
            <a:avLst/>
          </a:prstGeom>
          <a:noFill/>
          <a:ln/>
        </p:spPr>
        <p:txBody>
          <a:bodyPr wrap="square" lIns="0" tIns="0" rIns="0" bIns="0" rtlCol="0" anchor="ctr">
            <a:normAutofit/>
          </a:bodyPr>
          <a:lstStyle/>
          <a:p>
            <a:pPr marL="0" indent="0" algn="ctr">
              <a:buNone/>
            </a:pPr>
            <a:r>
              <a:rPr lang="en-US" sz="1000" b="1" dirty="0">
                <a:solidFill>
                  <a:srgbClr val="F16B61"/>
                </a:solidFill>
                <a:latin typeface="Aptos" pitchFamily="34" charset="0"/>
                <a:ea typeface="Aptos" pitchFamily="34" charset="-122"/>
                <a:cs typeface="Aptos" pitchFamily="34" charset="-120"/>
              </a:rPr>
              <a:t>Q08 • GEN. FAILURE</a:t>
            </a:r>
            <a:endParaRPr lang="en-US" sz="1000" dirty="0"/>
          </a:p>
        </p:txBody>
      </p:sp>
      <p:sp>
        <p:nvSpPr>
          <p:cNvPr id="11" name="Text 8"/>
          <p:cNvSpPr txBox="1"/>
          <p:nvPr/>
        </p:nvSpPr>
        <p:spPr>
          <a:xfrm>
            <a:off x="914400" y="2167128"/>
            <a:ext cx="4882896"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Evidence was found, but TF-IDF abstained</a:t>
            </a:r>
            <a:endParaRPr lang="en-US" sz="1550" dirty="0"/>
          </a:p>
        </p:txBody>
      </p:sp>
      <p:sp>
        <p:nvSpPr>
          <p:cNvPr id="12" name="Text 9"/>
          <p:cNvSpPr txBox="1"/>
          <p:nvPr/>
        </p:nvSpPr>
        <p:spPr>
          <a:xfrm>
            <a:off x="914400" y="2496312"/>
            <a:ext cx="4882896" cy="502920"/>
          </a:xfrm>
          <a:prstGeom prst="rect">
            <a:avLst/>
          </a:prstGeom>
          <a:noFill/>
          <a:ln/>
        </p:spPr>
        <p:txBody>
          <a:bodyPr wrap="square" lIns="0" tIns="0" rIns="0" bIns="0" rtlCol="0" anchor="t">
            <a:normAutofit/>
          </a:bodyPr>
          <a:lstStyle/>
          <a:p>
            <a:pPr marL="0" indent="0" algn="l">
              <a:buNone/>
            </a:pPr>
            <a:r>
              <a:rPr lang="en-US" sz="1130" dirty="0">
                <a:solidFill>
                  <a:srgbClr val="5E6A7C"/>
                </a:solidFill>
                <a:latin typeface="Aptos" pitchFamily="34" charset="0"/>
                <a:ea typeface="Aptos" pitchFamily="34" charset="-122"/>
                <a:cs typeface="Aptos" pitchFamily="34" charset="-120"/>
              </a:rPr>
              <a:t>TF-IDF retrieved pages 7 and 11 yet said “The document does not specify this information.” Semantic retrieval stated the private-cooking prohibition.</a:t>
            </a:r>
            <a:endParaRPr lang="en-US" sz="1130" dirty="0"/>
          </a:p>
        </p:txBody>
      </p:sp>
      <p:sp>
        <p:nvSpPr>
          <p:cNvPr id="13" name="Shape 10"/>
          <p:cNvSpPr/>
          <p:nvPr/>
        </p:nvSpPr>
        <p:spPr>
          <a:xfrm>
            <a:off x="6199632" y="1691640"/>
            <a:ext cx="5212080" cy="1426464"/>
          </a:xfrm>
          <a:prstGeom prst="roundRect">
            <a:avLst>
              <a:gd name="adj" fmla="val 7692"/>
            </a:avLst>
          </a:prstGeom>
          <a:solidFill>
            <a:srgbClr val="EEF1FF"/>
          </a:solidFill>
          <a:ln w="12700">
            <a:solidFill>
              <a:srgbClr val="E1E6ED"/>
            </a:solidFill>
            <a:prstDash val="solid"/>
          </a:ln>
        </p:spPr>
      </p:sp>
      <p:sp>
        <p:nvSpPr>
          <p:cNvPr id="14" name="Shape 11"/>
          <p:cNvSpPr/>
          <p:nvPr/>
        </p:nvSpPr>
        <p:spPr>
          <a:xfrm>
            <a:off x="6364224" y="1810512"/>
            <a:ext cx="1874520" cy="283464"/>
          </a:xfrm>
          <a:prstGeom prst="roundRect">
            <a:avLst>
              <a:gd name="adj" fmla="val 38710"/>
            </a:avLst>
          </a:prstGeom>
          <a:solidFill>
            <a:srgbClr val="FFFFFF"/>
          </a:solidFill>
          <a:ln w="12700">
            <a:solidFill>
              <a:srgbClr val="FFFFFF">
                <a:alpha val="0"/>
              </a:srgbClr>
            </a:solidFill>
            <a:prstDash val="solid"/>
          </a:ln>
        </p:spPr>
      </p:sp>
      <p:sp>
        <p:nvSpPr>
          <p:cNvPr id="15" name="Text 12"/>
          <p:cNvSpPr txBox="1"/>
          <p:nvPr/>
        </p:nvSpPr>
        <p:spPr>
          <a:xfrm>
            <a:off x="6437376" y="1828800"/>
            <a:ext cx="1728216" cy="237744"/>
          </a:xfrm>
          <a:prstGeom prst="rect">
            <a:avLst/>
          </a:prstGeom>
          <a:noFill/>
          <a:ln/>
        </p:spPr>
        <p:txBody>
          <a:bodyPr wrap="square" lIns="0" tIns="0" rIns="0" bIns="0" rtlCol="0" anchor="ctr">
            <a:normAutofit/>
          </a:bodyPr>
          <a:lstStyle/>
          <a:p>
            <a:pPr marL="0" indent="0" algn="ctr">
              <a:buNone/>
            </a:pPr>
            <a:r>
              <a:rPr lang="en-US" sz="1000" b="1" dirty="0">
                <a:solidFill>
                  <a:srgbClr val="4E6BFF"/>
                </a:solidFill>
                <a:latin typeface="Aptos" pitchFamily="34" charset="0"/>
                <a:ea typeface="Aptos" pitchFamily="34" charset="-122"/>
                <a:cs typeface="Aptos" pitchFamily="34" charset="-120"/>
              </a:rPr>
              <a:t>Q13 • RETRIEVAL FAILURE</a:t>
            </a:r>
            <a:endParaRPr lang="en-US" sz="1000" dirty="0"/>
          </a:p>
        </p:txBody>
      </p:sp>
      <p:sp>
        <p:nvSpPr>
          <p:cNvPr id="16" name="Text 13"/>
          <p:cNvSpPr txBox="1"/>
          <p:nvPr/>
        </p:nvSpPr>
        <p:spPr>
          <a:xfrm>
            <a:off x="6364224" y="2167128"/>
            <a:ext cx="4882896"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Semantic search missed page 16</a:t>
            </a:r>
            <a:endParaRPr lang="en-US" sz="1550" dirty="0"/>
          </a:p>
        </p:txBody>
      </p:sp>
      <p:sp>
        <p:nvSpPr>
          <p:cNvPr id="17" name="Text 14"/>
          <p:cNvSpPr txBox="1"/>
          <p:nvPr/>
        </p:nvSpPr>
        <p:spPr>
          <a:xfrm>
            <a:off x="6364224" y="2496312"/>
            <a:ext cx="4882896" cy="502920"/>
          </a:xfrm>
          <a:prstGeom prst="rect">
            <a:avLst/>
          </a:prstGeom>
          <a:noFill/>
          <a:ln/>
        </p:spPr>
        <p:txBody>
          <a:bodyPr wrap="square" lIns="0" tIns="0" rIns="0" bIns="0" rtlCol="0" anchor="t">
            <a:normAutofit/>
          </a:bodyPr>
          <a:lstStyle/>
          <a:p>
            <a:pPr marL="0" indent="0" algn="l">
              <a:buNone/>
            </a:pPr>
            <a:r>
              <a:rPr lang="en-US" sz="1130" dirty="0">
                <a:solidFill>
                  <a:srgbClr val="5E6A7C"/>
                </a:solidFill>
                <a:latin typeface="Aptos" pitchFamily="34" charset="0"/>
                <a:ea typeface="Aptos" pitchFamily="34" charset="-122"/>
                <a:cs typeface="Aptos" pitchFamily="34" charset="-120"/>
              </a:rPr>
              <a:t>Top-3 pages were 3, 21, 5; the correct academic-contact page was absent. The model named the wrong office.</a:t>
            </a:r>
            <a:endParaRPr lang="en-US" sz="1130" dirty="0"/>
          </a:p>
        </p:txBody>
      </p:sp>
      <p:sp>
        <p:nvSpPr>
          <p:cNvPr id="18" name="Shape 15"/>
          <p:cNvSpPr/>
          <p:nvPr/>
        </p:nvSpPr>
        <p:spPr>
          <a:xfrm>
            <a:off x="749808" y="3364992"/>
            <a:ext cx="5212080" cy="1426464"/>
          </a:xfrm>
          <a:prstGeom prst="roundRect">
            <a:avLst>
              <a:gd name="adj" fmla="val 7692"/>
            </a:avLst>
          </a:prstGeom>
          <a:solidFill>
            <a:srgbClr val="FFF7E5"/>
          </a:solidFill>
          <a:ln w="12700">
            <a:solidFill>
              <a:srgbClr val="E1E6ED"/>
            </a:solidFill>
            <a:prstDash val="solid"/>
          </a:ln>
        </p:spPr>
      </p:sp>
      <p:sp>
        <p:nvSpPr>
          <p:cNvPr id="19" name="Shape 16"/>
          <p:cNvSpPr/>
          <p:nvPr/>
        </p:nvSpPr>
        <p:spPr>
          <a:xfrm>
            <a:off x="914400" y="3483864"/>
            <a:ext cx="1572768" cy="283464"/>
          </a:xfrm>
          <a:prstGeom prst="roundRect">
            <a:avLst>
              <a:gd name="adj" fmla="val 38710"/>
            </a:avLst>
          </a:prstGeom>
          <a:solidFill>
            <a:srgbClr val="FFFFFF"/>
          </a:solidFill>
          <a:ln w="12700">
            <a:solidFill>
              <a:srgbClr val="FFFFFF">
                <a:alpha val="0"/>
              </a:srgbClr>
            </a:solidFill>
            <a:prstDash val="solid"/>
          </a:ln>
        </p:spPr>
      </p:sp>
      <p:sp>
        <p:nvSpPr>
          <p:cNvPr id="20" name="Text 17"/>
          <p:cNvSpPr txBox="1"/>
          <p:nvPr/>
        </p:nvSpPr>
        <p:spPr>
          <a:xfrm>
            <a:off x="987552" y="3502152"/>
            <a:ext cx="1426464" cy="237744"/>
          </a:xfrm>
          <a:prstGeom prst="rect">
            <a:avLst/>
          </a:prstGeom>
          <a:noFill/>
          <a:ln/>
        </p:spPr>
        <p:txBody>
          <a:bodyPr wrap="square" lIns="0" tIns="0" rIns="0" bIns="0" rtlCol="0" anchor="ctr">
            <a:normAutofit/>
          </a:bodyPr>
          <a:lstStyle/>
          <a:p>
            <a:pPr marL="0" indent="0" algn="ctr">
              <a:buNone/>
            </a:pPr>
            <a:r>
              <a:rPr lang="en-US" sz="1000" b="1" dirty="0">
                <a:solidFill>
                  <a:srgbClr val="E9AE3C"/>
                </a:solidFill>
                <a:latin typeface="Aptos" pitchFamily="34" charset="0"/>
                <a:ea typeface="Aptos" pitchFamily="34" charset="-122"/>
                <a:cs typeface="Aptos" pitchFamily="34" charset="-120"/>
              </a:rPr>
              <a:t>Q18 • GEN. FAILURE</a:t>
            </a:r>
            <a:endParaRPr lang="en-US" sz="1000" dirty="0"/>
          </a:p>
        </p:txBody>
      </p:sp>
      <p:sp>
        <p:nvSpPr>
          <p:cNvPr id="21" name="Text 18"/>
          <p:cNvSpPr txBox="1"/>
          <p:nvPr/>
        </p:nvSpPr>
        <p:spPr>
          <a:xfrm>
            <a:off x="914400" y="3840480"/>
            <a:ext cx="4882896"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Both methods found page 13</a:t>
            </a:r>
            <a:endParaRPr lang="en-US" sz="1550" dirty="0"/>
          </a:p>
        </p:txBody>
      </p:sp>
      <p:sp>
        <p:nvSpPr>
          <p:cNvPr id="22" name="Text 19"/>
          <p:cNvSpPr txBox="1"/>
          <p:nvPr/>
        </p:nvSpPr>
        <p:spPr>
          <a:xfrm>
            <a:off x="914400" y="4169664"/>
            <a:ext cx="4882896" cy="502920"/>
          </a:xfrm>
          <a:prstGeom prst="rect">
            <a:avLst/>
          </a:prstGeom>
          <a:noFill/>
          <a:ln/>
        </p:spPr>
        <p:txBody>
          <a:bodyPr wrap="square" lIns="0" tIns="0" rIns="0" bIns="0" rtlCol="0" anchor="t">
            <a:normAutofit/>
          </a:bodyPr>
          <a:lstStyle/>
          <a:p>
            <a:pPr marL="0" indent="0" algn="l">
              <a:buNone/>
            </a:pPr>
            <a:r>
              <a:rPr lang="en-US" sz="1130" dirty="0">
                <a:solidFill>
                  <a:srgbClr val="5E6A7C"/>
                </a:solidFill>
                <a:latin typeface="Aptos" pitchFamily="34" charset="0"/>
                <a:ea typeface="Aptos" pitchFamily="34" charset="-122"/>
                <a:cs typeface="Aptos" pitchFamily="34" charset="-120"/>
              </a:rPr>
              <a:t>Both outputs said the black-dot consequences were not specified, despite the relevant information appearing on the retrieved page.</a:t>
            </a:r>
            <a:endParaRPr lang="en-US" sz="1130" dirty="0"/>
          </a:p>
        </p:txBody>
      </p:sp>
      <p:sp>
        <p:nvSpPr>
          <p:cNvPr id="23" name="Shape 20"/>
          <p:cNvSpPr/>
          <p:nvPr/>
        </p:nvSpPr>
        <p:spPr>
          <a:xfrm>
            <a:off x="6199632" y="3364992"/>
            <a:ext cx="5212080" cy="1426464"/>
          </a:xfrm>
          <a:prstGeom prst="roundRect">
            <a:avLst>
              <a:gd name="adj" fmla="val 7692"/>
            </a:avLst>
          </a:prstGeom>
          <a:solidFill>
            <a:srgbClr val="E9F8F6"/>
          </a:solidFill>
          <a:ln w="12700">
            <a:solidFill>
              <a:srgbClr val="E1E6ED"/>
            </a:solidFill>
            <a:prstDash val="solid"/>
          </a:ln>
        </p:spPr>
      </p:sp>
      <p:sp>
        <p:nvSpPr>
          <p:cNvPr id="24" name="Shape 21"/>
          <p:cNvSpPr/>
          <p:nvPr/>
        </p:nvSpPr>
        <p:spPr>
          <a:xfrm>
            <a:off x="6364224" y="3483864"/>
            <a:ext cx="1572768" cy="283464"/>
          </a:xfrm>
          <a:prstGeom prst="roundRect">
            <a:avLst>
              <a:gd name="adj" fmla="val 38710"/>
            </a:avLst>
          </a:prstGeom>
          <a:solidFill>
            <a:srgbClr val="FFFFFF"/>
          </a:solidFill>
          <a:ln w="12700">
            <a:solidFill>
              <a:srgbClr val="FFFFFF">
                <a:alpha val="0"/>
              </a:srgbClr>
            </a:solidFill>
            <a:prstDash val="solid"/>
          </a:ln>
        </p:spPr>
      </p:sp>
      <p:sp>
        <p:nvSpPr>
          <p:cNvPr id="25" name="Text 22"/>
          <p:cNvSpPr txBox="1"/>
          <p:nvPr/>
        </p:nvSpPr>
        <p:spPr>
          <a:xfrm>
            <a:off x="6437376" y="3502152"/>
            <a:ext cx="1426464" cy="237744"/>
          </a:xfrm>
          <a:prstGeom prst="rect">
            <a:avLst/>
          </a:prstGeom>
          <a:noFill/>
          <a:ln/>
        </p:spPr>
        <p:txBody>
          <a:bodyPr wrap="square" lIns="0" tIns="0" rIns="0" bIns="0" rtlCol="0" anchor="ctr">
            <a:normAutofit/>
          </a:bodyPr>
          <a:lstStyle/>
          <a:p>
            <a:pPr marL="0" indent="0" algn="ctr">
              <a:buNone/>
            </a:pPr>
            <a:r>
              <a:rPr lang="en-US" sz="1000" b="1" dirty="0">
                <a:solidFill>
                  <a:srgbClr val="0FA99F"/>
                </a:solidFill>
                <a:latin typeface="Aptos" pitchFamily="34" charset="0"/>
                <a:ea typeface="Aptos" pitchFamily="34" charset="-122"/>
                <a:cs typeface="Aptos" pitchFamily="34" charset="-120"/>
              </a:rPr>
              <a:t>Q14 • EXTRA CLAIM</a:t>
            </a:r>
            <a:endParaRPr lang="en-US" sz="1000" dirty="0"/>
          </a:p>
        </p:txBody>
      </p:sp>
      <p:sp>
        <p:nvSpPr>
          <p:cNvPr id="26" name="Text 23"/>
          <p:cNvSpPr txBox="1"/>
          <p:nvPr/>
        </p:nvSpPr>
        <p:spPr>
          <a:xfrm>
            <a:off x="6364224" y="3840480"/>
            <a:ext cx="4882896" cy="274320"/>
          </a:xfrm>
          <a:prstGeom prst="rect">
            <a:avLst/>
          </a:prstGeom>
          <a:noFill/>
          <a:ln/>
        </p:spPr>
        <p:txBody>
          <a:bodyPr wrap="square" lIns="0" tIns="0" rIns="0" bIns="0" rtlCol="0" anchor="ctr">
            <a:normAutofit/>
          </a:bodyPr>
          <a:lstStyle/>
          <a:p>
            <a:pPr marL="0" indent="0" algn="l">
              <a:buNone/>
            </a:pPr>
            <a:r>
              <a:rPr lang="en-US" sz="1550" b="1" dirty="0">
                <a:solidFill>
                  <a:srgbClr val="111B2E"/>
                </a:solidFill>
                <a:latin typeface="Aptos" pitchFamily="34" charset="0"/>
                <a:ea typeface="Aptos" pitchFamily="34" charset="-122"/>
                <a:cs typeface="Aptos" pitchFamily="34" charset="-120"/>
              </a:rPr>
              <a:t>A mostly correct answer can still add an error</a:t>
            </a:r>
            <a:endParaRPr lang="en-US" sz="1550" dirty="0"/>
          </a:p>
        </p:txBody>
      </p:sp>
      <p:sp>
        <p:nvSpPr>
          <p:cNvPr id="27" name="Text 24"/>
          <p:cNvSpPr txBox="1"/>
          <p:nvPr/>
        </p:nvSpPr>
        <p:spPr>
          <a:xfrm>
            <a:off x="6364224" y="4169664"/>
            <a:ext cx="4882896" cy="502920"/>
          </a:xfrm>
          <a:prstGeom prst="rect">
            <a:avLst/>
          </a:prstGeom>
          <a:noFill/>
          <a:ln/>
        </p:spPr>
        <p:txBody>
          <a:bodyPr wrap="square" lIns="0" tIns="0" rIns="0" bIns="0" rtlCol="0" anchor="t">
            <a:normAutofit/>
          </a:bodyPr>
          <a:lstStyle/>
          <a:p>
            <a:pPr marL="0" indent="0" algn="l">
              <a:buNone/>
            </a:pPr>
            <a:r>
              <a:rPr lang="en-US" sz="1130" dirty="0">
                <a:solidFill>
                  <a:srgbClr val="5E6A7C"/>
                </a:solidFill>
                <a:latin typeface="Aptos" pitchFamily="34" charset="0"/>
                <a:ea typeface="Aptos" pitchFamily="34" charset="-122"/>
                <a:cs typeface="Aptos" pitchFamily="34" charset="-120"/>
              </a:rPr>
              <a:t>TF-IDF gave opening hours correctly but added that issue/return timings were the same. The PDF gives different issue/return hours.</a:t>
            </a:r>
            <a:endParaRPr lang="en-US" sz="1130" dirty="0"/>
          </a:p>
        </p:txBody>
      </p:sp>
      <p:sp>
        <p:nvSpPr>
          <p:cNvPr id="28" name="Text 25"/>
          <p:cNvSpPr txBox="1"/>
          <p:nvPr/>
        </p:nvSpPr>
        <p:spPr>
          <a:xfrm>
            <a:off x="822960" y="5230368"/>
            <a:ext cx="10607040" cy="384048"/>
          </a:xfrm>
          <a:prstGeom prst="rect">
            <a:avLst/>
          </a:prstGeom>
          <a:noFill/>
          <a:ln/>
        </p:spPr>
        <p:txBody>
          <a:bodyPr wrap="square" lIns="0" tIns="0" rIns="0" bIns="0" rtlCol="0" anchor="ctr">
            <a:normAutofit/>
          </a:bodyPr>
          <a:lstStyle/>
          <a:p>
            <a:pPr marL="0" indent="0" algn="ctr">
              <a:buNone/>
            </a:pPr>
            <a:r>
              <a:rPr lang="en-US" sz="1800" b="1" dirty="0">
                <a:solidFill>
                  <a:srgbClr val="111B2E"/>
                </a:solidFill>
                <a:latin typeface="Aptos" pitchFamily="34" charset="0"/>
                <a:ea typeface="Aptos" pitchFamily="34" charset="-122"/>
                <a:cs typeface="Aptos" pitchFamily="34" charset="-120"/>
              </a:rPr>
              <a:t>Lesson: “A passage was retrieved” is not the same as “the answer is correct.”</a:t>
            </a:r>
            <a:endParaRPr lang="en-US" sz="1800" dirty="0"/>
          </a:p>
        </p:txBody>
      </p:sp>
      <p:sp>
        <p:nvSpPr>
          <p:cNvPr id="7" name="Slide Number Placeholder 0"/>
          <p:cNvSpPr>
            <a:spLocks noGrp="1"/>
          </p:cNvSpPr>
          <p:nvPr>
            <p:ph type="sldNum" sz="quarter" idx="4294967295"/>
          </p:nvPr>
        </p:nvSpPr>
        <p:spPr>
          <a:xfrm>
            <a:off x="1115568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495"/>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B2E"/>
        </a:solidFill>
        <a:effectLst/>
      </p:bgPr>
    </p:bg>
    <p:spTree>
      <p:nvGrpSpPr>
        <p:cNvPr id="1" name=""/>
        <p:cNvGrpSpPr/>
        <p:nvPr/>
      </p:nvGrpSpPr>
      <p:grpSpPr>
        <a:xfrm>
          <a:off x="0" y="0"/>
          <a:ext cx="0" cy="0"/>
          <a:chOff x="0" y="0"/>
          <a:chExt cx="0" cy="0"/>
        </a:xfrm>
      </p:grpSpPr>
      <p:sp>
        <p:nvSpPr>
          <p:cNvPr id="2" name="Text 0"/>
          <p:cNvSpPr txBox="1"/>
          <p:nvPr/>
        </p:nvSpPr>
        <p:spPr>
          <a:xfrm>
            <a:off x="685800" y="393192"/>
            <a:ext cx="3657600" cy="210312"/>
          </a:xfrm>
          <a:prstGeom prst="rect">
            <a:avLst/>
          </a:prstGeom>
          <a:noFill/>
          <a:ln/>
        </p:spPr>
        <p:txBody>
          <a:bodyPr wrap="square" lIns="0" tIns="0" rIns="0" bIns="0" rtlCol="0" anchor="ctr">
            <a:normAutofit/>
          </a:bodyPr>
          <a:lstStyle/>
          <a:p>
            <a:pPr marL="0" indent="0" algn="l">
              <a:buNone/>
            </a:pPr>
            <a:r>
              <a:rPr lang="en-US" sz="1000" b="1" kern="0" spc="130" dirty="0">
                <a:solidFill>
                  <a:srgbClr val="7DE0D6"/>
                </a:solidFill>
                <a:latin typeface="Aptos" pitchFamily="34" charset="0"/>
                <a:ea typeface="Aptos" pitchFamily="34" charset="-122"/>
                <a:cs typeface="Aptos" pitchFamily="34" charset="-120"/>
              </a:rPr>
              <a:t>14 • CONCLUSION</a:t>
            </a:r>
            <a:endParaRPr lang="en-US" sz="1000" dirty="0"/>
          </a:p>
        </p:txBody>
      </p:sp>
      <p:sp>
        <p:nvSpPr>
          <p:cNvPr id="3" name="Text 1"/>
          <p:cNvSpPr txBox="1"/>
          <p:nvPr/>
        </p:nvSpPr>
        <p:spPr>
          <a:xfrm>
            <a:off x="685800" y="749808"/>
            <a:ext cx="6858000" cy="566928"/>
          </a:xfrm>
          <a:prstGeom prst="rect">
            <a:avLst/>
          </a:prstGeom>
          <a:noFill/>
          <a:ln/>
        </p:spPr>
        <p:txBody>
          <a:bodyPr wrap="square" lIns="0" tIns="0" rIns="0" bIns="0" rtlCol="0" anchor="ctr">
            <a:normAutofit/>
          </a:bodyPr>
          <a:lstStyle/>
          <a:p>
            <a:pPr marL="0" indent="0" algn="l">
              <a:buNone/>
            </a:pPr>
            <a:r>
              <a:rPr lang="en-US" sz="3100" b="1" dirty="0">
                <a:solidFill>
                  <a:srgbClr val="FFFFFF"/>
                </a:solidFill>
                <a:latin typeface="Aptos Display" pitchFamily="34" charset="0"/>
                <a:ea typeface="Aptos Display" pitchFamily="34" charset="-122"/>
                <a:cs typeface="Aptos Display" pitchFamily="34" charset="-120"/>
              </a:rPr>
              <a:t>What did we learn?</a:t>
            </a:r>
            <a:endParaRPr lang="en-US" sz="3100" dirty="0"/>
          </a:p>
        </p:txBody>
      </p:sp>
      <p:sp>
        <p:nvSpPr>
          <p:cNvPr id="4" name="Text 2"/>
          <p:cNvSpPr txBox="1"/>
          <p:nvPr/>
        </p:nvSpPr>
        <p:spPr>
          <a:xfrm>
            <a:off x="713232" y="1417320"/>
            <a:ext cx="10515600" cy="502920"/>
          </a:xfrm>
          <a:prstGeom prst="rect">
            <a:avLst/>
          </a:prstGeom>
          <a:noFill/>
          <a:ln/>
        </p:spPr>
        <p:txBody>
          <a:bodyPr wrap="square" lIns="0" tIns="0" rIns="0" bIns="0" rtlCol="0" anchor="ctr">
            <a:normAutofit/>
          </a:bodyPr>
          <a:lstStyle/>
          <a:p>
            <a:pPr marL="0" indent="0" algn="l">
              <a:buNone/>
            </a:pPr>
            <a:r>
              <a:rPr lang="en-US" sz="2000" b="1" dirty="0">
                <a:solidFill>
                  <a:srgbClr val="DBE5F2"/>
                </a:solidFill>
                <a:latin typeface="Aptos" pitchFamily="34" charset="0"/>
                <a:ea typeface="Aptos" pitchFamily="34" charset="-122"/>
                <a:cs typeface="Aptos" pitchFamily="34" charset="-120"/>
              </a:rPr>
              <a:t>Better retrieval helps, but it does not guarantee a correct answer.</a:t>
            </a:r>
            <a:endParaRPr lang="en-US" sz="2000" dirty="0"/>
          </a:p>
        </p:txBody>
      </p:sp>
      <p:sp>
        <p:nvSpPr>
          <p:cNvPr id="5" name="Shape 3"/>
          <p:cNvSpPr/>
          <p:nvPr/>
        </p:nvSpPr>
        <p:spPr>
          <a:xfrm>
            <a:off x="713232" y="2267712"/>
            <a:ext cx="3291840" cy="2240280"/>
          </a:xfrm>
          <a:prstGeom prst="roundRect">
            <a:avLst>
              <a:gd name="adj" fmla="val 4898"/>
            </a:avLst>
          </a:prstGeom>
          <a:solidFill>
            <a:srgbClr val="1A2941"/>
          </a:solidFill>
          <a:ln w="12700">
            <a:solidFill>
              <a:srgbClr val="31415D"/>
            </a:solidFill>
            <a:prstDash val="solid"/>
          </a:ln>
        </p:spPr>
      </p:sp>
      <p:sp>
        <p:nvSpPr>
          <p:cNvPr id="6" name="Shape 4"/>
          <p:cNvSpPr/>
          <p:nvPr/>
        </p:nvSpPr>
        <p:spPr>
          <a:xfrm>
            <a:off x="713232" y="2267712"/>
            <a:ext cx="3291840" cy="64008"/>
          </a:xfrm>
          <a:prstGeom prst="rect">
            <a:avLst/>
          </a:prstGeom>
          <a:solidFill>
            <a:srgbClr val="0FA99F"/>
          </a:solidFill>
          <a:ln w="12700">
            <a:solidFill>
              <a:srgbClr val="0FA99F">
                <a:alpha val="0"/>
              </a:srgbClr>
            </a:solidFill>
            <a:prstDash val="solid"/>
          </a:ln>
        </p:spPr>
      </p:sp>
      <p:sp>
        <p:nvSpPr>
          <p:cNvPr id="7" name="Text 5"/>
          <p:cNvSpPr txBox="1"/>
          <p:nvPr/>
        </p:nvSpPr>
        <p:spPr>
          <a:xfrm>
            <a:off x="914400" y="2542032"/>
            <a:ext cx="2880360" cy="310896"/>
          </a:xfrm>
          <a:prstGeom prst="rect">
            <a:avLst/>
          </a:prstGeom>
          <a:noFill/>
          <a:ln/>
        </p:spPr>
        <p:txBody>
          <a:bodyPr wrap="square" lIns="0" tIns="0" rIns="0" bIns="0" rtlCol="0" anchor="ctr">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Conclusion</a:t>
            </a:r>
            <a:endParaRPr lang="en-US" sz="1800" dirty="0"/>
          </a:p>
        </p:txBody>
      </p:sp>
      <p:sp>
        <p:nvSpPr>
          <p:cNvPr id="8" name="Text 6"/>
          <p:cNvSpPr txBox="1"/>
          <p:nvPr/>
        </p:nvSpPr>
        <p:spPr>
          <a:xfrm>
            <a:off x="914400" y="2980944"/>
            <a:ext cx="2871216" cy="1298448"/>
          </a:xfrm>
          <a:prstGeom prst="rect">
            <a:avLst/>
          </a:prstGeom>
          <a:noFill/>
          <a:ln/>
        </p:spPr>
        <p:txBody>
          <a:bodyPr wrap="square" lIns="0" tIns="0" rIns="0" bIns="0" rtlCol="0" anchor="t">
            <a:normAutofit/>
          </a:bodyPr>
          <a:lstStyle/>
          <a:p>
            <a:pPr marL="0" indent="0" algn="l">
              <a:buNone/>
            </a:pPr>
            <a:r>
              <a:rPr lang="en-US" sz="1270" dirty="0">
                <a:solidFill>
                  <a:srgbClr val="D4DDE9"/>
                </a:solidFill>
                <a:latin typeface="Aptos" pitchFamily="34" charset="0"/>
                <a:ea typeface="Aptos" pitchFamily="34" charset="-122"/>
                <a:cs typeface="Aptos" pitchFamily="34" charset="-120"/>
              </a:rPr>
              <a:t>• TF-IDF ranked relevant pages higher on this benchmark.</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Answer accuracy was reported equal across methods.</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Failures occurred at both retrieval and generation.</a:t>
            </a:r>
            <a:endParaRPr lang="en-US" sz="1270" dirty="0"/>
          </a:p>
        </p:txBody>
      </p:sp>
      <p:sp>
        <p:nvSpPr>
          <p:cNvPr id="9" name="Shape 7"/>
          <p:cNvSpPr/>
          <p:nvPr/>
        </p:nvSpPr>
        <p:spPr>
          <a:xfrm>
            <a:off x="4325112" y="2267712"/>
            <a:ext cx="3291840" cy="2240280"/>
          </a:xfrm>
          <a:prstGeom prst="roundRect">
            <a:avLst>
              <a:gd name="adj" fmla="val 4898"/>
            </a:avLst>
          </a:prstGeom>
          <a:solidFill>
            <a:srgbClr val="1A2941"/>
          </a:solidFill>
          <a:ln w="12700">
            <a:solidFill>
              <a:srgbClr val="31415D"/>
            </a:solidFill>
            <a:prstDash val="solid"/>
          </a:ln>
        </p:spPr>
      </p:sp>
      <p:sp>
        <p:nvSpPr>
          <p:cNvPr id="10" name="Shape 8"/>
          <p:cNvSpPr/>
          <p:nvPr/>
        </p:nvSpPr>
        <p:spPr>
          <a:xfrm>
            <a:off x="4325112" y="2267712"/>
            <a:ext cx="3291840" cy="64008"/>
          </a:xfrm>
          <a:prstGeom prst="rect">
            <a:avLst/>
          </a:prstGeom>
          <a:solidFill>
            <a:srgbClr val="E9AE3C"/>
          </a:solidFill>
          <a:ln w="12700">
            <a:solidFill>
              <a:srgbClr val="E9AE3C">
                <a:alpha val="0"/>
              </a:srgbClr>
            </a:solidFill>
            <a:prstDash val="solid"/>
          </a:ln>
        </p:spPr>
      </p:sp>
      <p:sp>
        <p:nvSpPr>
          <p:cNvPr id="11" name="Text 9"/>
          <p:cNvSpPr txBox="1"/>
          <p:nvPr/>
        </p:nvSpPr>
        <p:spPr>
          <a:xfrm>
            <a:off x="4526280" y="2542032"/>
            <a:ext cx="2880360" cy="310896"/>
          </a:xfrm>
          <a:prstGeom prst="rect">
            <a:avLst/>
          </a:prstGeom>
          <a:noFill/>
          <a:ln/>
        </p:spPr>
        <p:txBody>
          <a:bodyPr wrap="square" lIns="0" tIns="0" rIns="0" bIns="0" rtlCol="0" anchor="ctr">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Limitations</a:t>
            </a:r>
            <a:endParaRPr lang="en-US" sz="1800" dirty="0"/>
          </a:p>
        </p:txBody>
      </p:sp>
      <p:sp>
        <p:nvSpPr>
          <p:cNvPr id="12" name="Text 10"/>
          <p:cNvSpPr txBox="1"/>
          <p:nvPr/>
        </p:nvSpPr>
        <p:spPr>
          <a:xfrm>
            <a:off x="4526280" y="2980944"/>
            <a:ext cx="2871216" cy="1298448"/>
          </a:xfrm>
          <a:prstGeom prst="rect">
            <a:avLst/>
          </a:prstGeom>
          <a:noFill/>
          <a:ln/>
        </p:spPr>
        <p:txBody>
          <a:bodyPr wrap="square" lIns="0" tIns="0" rIns="0" bIns="0" rtlCol="0" anchor="t">
            <a:normAutofit/>
          </a:bodyPr>
          <a:lstStyle/>
          <a:p>
            <a:pPr marL="0" indent="0" algn="l">
              <a:buNone/>
            </a:pPr>
            <a:r>
              <a:rPr lang="en-US" sz="1270" dirty="0">
                <a:solidFill>
                  <a:srgbClr val="D4DDE9"/>
                </a:solidFill>
                <a:latin typeface="Aptos" pitchFamily="34" charset="0"/>
                <a:ea typeface="Aptos" pitchFamily="34" charset="-122"/>
                <a:cs typeface="Aptos" pitchFamily="34" charset="-120"/>
              </a:rPr>
              <a:t>• Very small dataset which has only 22 questions</a:t>
            </a:r>
            <a:br>
              <a:rPr lang="en-US" sz="1270" dirty="0">
                <a:solidFill>
                  <a:srgbClr val="D4DDE9"/>
                </a:solidFill>
                <a:latin typeface="Aptos" pitchFamily="34" charset="0"/>
                <a:ea typeface="Aptos" pitchFamily="34" charset="-122"/>
                <a:cs typeface="Aptos" pitchFamily="34" charset="-120"/>
              </a:rPr>
            </a:br>
            <a:r>
              <a:rPr lang="en-US" sz="1270" dirty="0">
                <a:solidFill>
                  <a:srgbClr val="D4DDE9"/>
                </a:solidFill>
                <a:latin typeface="Aptos" pitchFamily="34" charset="0"/>
                <a:ea typeface="Aptos" pitchFamily="34" charset="-122"/>
                <a:cs typeface="Aptos" pitchFamily="34" charset="-120"/>
              </a:rPr>
              <a:t>• Page labels and answer labels involve human judgment.</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PDF extraction and a small local LLM can introduce errors.</a:t>
            </a:r>
            <a:endParaRPr lang="en-US" sz="1270" dirty="0"/>
          </a:p>
        </p:txBody>
      </p:sp>
      <p:sp>
        <p:nvSpPr>
          <p:cNvPr id="13" name="Shape 11"/>
          <p:cNvSpPr/>
          <p:nvPr/>
        </p:nvSpPr>
        <p:spPr>
          <a:xfrm>
            <a:off x="7936992" y="2267712"/>
            <a:ext cx="3291840" cy="2240280"/>
          </a:xfrm>
          <a:prstGeom prst="roundRect">
            <a:avLst>
              <a:gd name="adj" fmla="val 4898"/>
            </a:avLst>
          </a:prstGeom>
          <a:solidFill>
            <a:srgbClr val="1A2941"/>
          </a:solidFill>
          <a:ln w="12700">
            <a:solidFill>
              <a:srgbClr val="31415D"/>
            </a:solidFill>
            <a:prstDash val="solid"/>
          </a:ln>
        </p:spPr>
      </p:sp>
      <p:sp>
        <p:nvSpPr>
          <p:cNvPr id="14" name="Shape 12"/>
          <p:cNvSpPr/>
          <p:nvPr/>
        </p:nvSpPr>
        <p:spPr>
          <a:xfrm>
            <a:off x="7936992" y="2267712"/>
            <a:ext cx="3291840" cy="64008"/>
          </a:xfrm>
          <a:prstGeom prst="rect">
            <a:avLst/>
          </a:prstGeom>
          <a:solidFill>
            <a:srgbClr val="F16B61"/>
          </a:solidFill>
          <a:ln w="12700">
            <a:solidFill>
              <a:srgbClr val="F16B61">
                <a:alpha val="0"/>
              </a:srgbClr>
            </a:solidFill>
            <a:prstDash val="solid"/>
          </a:ln>
        </p:spPr>
      </p:sp>
      <p:sp>
        <p:nvSpPr>
          <p:cNvPr id="15" name="Text 13"/>
          <p:cNvSpPr txBox="1"/>
          <p:nvPr/>
        </p:nvSpPr>
        <p:spPr>
          <a:xfrm>
            <a:off x="8138160" y="2542032"/>
            <a:ext cx="2880360" cy="310896"/>
          </a:xfrm>
          <a:prstGeom prst="rect">
            <a:avLst/>
          </a:prstGeom>
          <a:noFill/>
          <a:ln/>
        </p:spPr>
        <p:txBody>
          <a:bodyPr wrap="square" lIns="0" tIns="0" rIns="0" bIns="0" rtlCol="0" anchor="ctr">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Future scope</a:t>
            </a:r>
            <a:endParaRPr lang="en-US" sz="1800" dirty="0"/>
          </a:p>
        </p:txBody>
      </p:sp>
      <p:sp>
        <p:nvSpPr>
          <p:cNvPr id="16" name="Text 14"/>
          <p:cNvSpPr txBox="1"/>
          <p:nvPr/>
        </p:nvSpPr>
        <p:spPr>
          <a:xfrm>
            <a:off x="8138160" y="2980944"/>
            <a:ext cx="2871216" cy="1298448"/>
          </a:xfrm>
          <a:prstGeom prst="rect">
            <a:avLst/>
          </a:prstGeom>
          <a:noFill/>
          <a:ln/>
        </p:spPr>
        <p:txBody>
          <a:bodyPr wrap="square" lIns="0" tIns="0" rIns="0" bIns="0" rtlCol="0" anchor="t">
            <a:normAutofit/>
          </a:bodyPr>
          <a:lstStyle/>
          <a:p>
            <a:pPr marL="0" indent="0" algn="l">
              <a:buNone/>
            </a:pPr>
            <a:r>
              <a:rPr lang="en-US" sz="1270" dirty="0">
                <a:solidFill>
                  <a:srgbClr val="D4DDE9"/>
                </a:solidFill>
                <a:latin typeface="Aptos" pitchFamily="34" charset="0"/>
                <a:ea typeface="Aptos" pitchFamily="34" charset="-122"/>
                <a:cs typeface="Aptos" pitchFamily="34" charset="-120"/>
              </a:rPr>
              <a:t>• Expand questions and paraphrases.</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Test hybrid search and a reranker.</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Add source citations and claim-level evidence checks.</a:t>
            </a:r>
            <a:endParaRPr lang="en-US" sz="1270" dirty="0"/>
          </a:p>
          <a:p>
            <a:pPr marL="0" indent="0" algn="l">
              <a:buNone/>
            </a:pPr>
            <a:r>
              <a:rPr lang="en-US" sz="1270" dirty="0">
                <a:solidFill>
                  <a:srgbClr val="D4DDE9"/>
                </a:solidFill>
                <a:latin typeface="Aptos" pitchFamily="34" charset="0"/>
                <a:ea typeface="Aptos" pitchFamily="34" charset="-122"/>
                <a:cs typeface="Aptos" pitchFamily="34" charset="-120"/>
              </a:rPr>
              <a:t>• Repeat review with multiple evaluators.</a:t>
            </a:r>
            <a:endParaRPr lang="en-US" sz="1270" dirty="0"/>
          </a:p>
        </p:txBody>
      </p:sp>
      <p:sp>
        <p:nvSpPr>
          <p:cNvPr id="17" name="Text 15"/>
          <p:cNvSpPr txBox="1"/>
          <p:nvPr/>
        </p:nvSpPr>
        <p:spPr>
          <a:xfrm>
            <a:off x="731520" y="5074920"/>
            <a:ext cx="1828800" cy="42062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ptos" pitchFamily="34" charset="0"/>
                <a:ea typeface="Aptos" pitchFamily="34" charset="-122"/>
                <a:cs typeface="Aptos" pitchFamily="34" charset="-120"/>
              </a:rPr>
              <a:t>Thank you</a:t>
            </a:r>
            <a:endParaRPr lang="en-US" sz="2400" dirty="0"/>
          </a:p>
        </p:txBody>
      </p:sp>
      <p:sp>
        <p:nvSpPr>
          <p:cNvPr id="18" name="Text 16"/>
          <p:cNvSpPr txBox="1"/>
          <p:nvPr/>
        </p:nvSpPr>
        <p:spPr>
          <a:xfrm>
            <a:off x="2286000" y="5074920"/>
            <a:ext cx="1828800" cy="438912"/>
          </a:xfrm>
          <a:prstGeom prst="rect">
            <a:avLst/>
          </a:prstGeom>
          <a:noFill/>
          <a:ln/>
        </p:spPr>
        <p:txBody>
          <a:bodyPr wrap="square" lIns="0" tIns="0" rIns="0" bIns="0" rtlCol="0" anchor="ctr">
            <a:normAutofit/>
          </a:bodyPr>
          <a:lstStyle/>
          <a:p>
            <a:pPr marL="0" indent="0" algn="l">
              <a:buNone/>
            </a:pPr>
            <a:r>
              <a:rPr lang="en-US" sz="1600" b="1" dirty="0">
                <a:solidFill>
                  <a:srgbClr val="7DE0D6"/>
                </a:solidFill>
                <a:latin typeface="Aptos" pitchFamily="34" charset="0"/>
                <a:ea typeface="Aptos" pitchFamily="34" charset="-122"/>
                <a:cs typeface="Aptos" pitchFamily="34" charset="-120"/>
              </a:rPr>
              <a:t>Questions?</a:t>
            </a:r>
            <a:endParaRPr lang="en-US" sz="1600" dirty="0"/>
          </a:p>
        </p:txBody>
      </p:sp>
      <p:sp>
        <p:nvSpPr>
          <p:cNvPr id="20" name="Text 18"/>
          <p:cNvSpPr txBox="1"/>
          <p:nvPr/>
        </p:nvSpPr>
        <p:spPr>
          <a:xfrm>
            <a:off x="10972800" y="6492240"/>
            <a:ext cx="658368" cy="164592"/>
          </a:xfrm>
          <a:prstGeom prst="rect">
            <a:avLst/>
          </a:prstGeom>
          <a:noFill/>
          <a:ln/>
        </p:spPr>
        <p:txBody>
          <a:bodyPr wrap="square" lIns="0" tIns="0" rIns="0" bIns="0" rtlCol="0" anchor="ctr">
            <a:normAutofit/>
          </a:bodyPr>
          <a:lstStyle/>
          <a:p>
            <a:pPr marL="0" indent="0" algn="r">
              <a:buNone/>
            </a:pPr>
            <a:r>
              <a:rPr lang="en-US" sz="800" dirty="0">
                <a:solidFill>
                  <a:srgbClr val="97A6BA"/>
                </a:solidFill>
                <a:latin typeface="Aptos" pitchFamily="34" charset="0"/>
                <a:ea typeface="Aptos" pitchFamily="34" charset="-122"/>
                <a:cs typeface="Aptos" pitchFamily="34" charset="-120"/>
              </a:rPr>
              <a:t>15 /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3392</Words>
  <Application>Microsoft Office PowerPoint</Application>
  <PresentationFormat>Widescreen</PresentationFormat>
  <Paragraphs>304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M.Tech AI/ML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Better Retrieval Lead to Better Answers?</dc:title>
  <dc:subject>RAG-based question answering using BIT Mesra rules and regulations</dc:subject>
  <dc:creator>M.Tech AI/ML Project Team</dc:creator>
  <cp:lastModifiedBy>Tirthanir Maity</cp:lastModifiedBy>
  <cp:revision>3</cp:revision>
  <dcterms:created xsi:type="dcterms:W3CDTF">2026-10-13T16:31:53Z</dcterms:created>
  <dcterms:modified xsi:type="dcterms:W3CDTF">2026-10-21T08:25:07Z</dcterms:modified>
</cp:coreProperties>
</file>